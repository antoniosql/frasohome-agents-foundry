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F5C2D8-1DC8-4AAD-A979-21BF7214B43C}" v="6" dt="2026-04-28T17:23:22.5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4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2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onio José Soto Rodriguez" userId="8579524ee905eeb0" providerId="LiveId" clId="{C7B76ECC-4C30-43E9-81E0-1A89685E4207}"/>
    <pc:docChg chg="custSel addSld delSld modSld">
      <pc:chgData name="Antonio José Soto Rodriguez" userId="8579524ee905eeb0" providerId="LiveId" clId="{C7B76ECC-4C30-43E9-81E0-1A89685E4207}" dt="2026-04-28T17:26:06.508" v="85" actId="478"/>
      <pc:docMkLst>
        <pc:docMk/>
      </pc:docMkLst>
      <pc:sldChg chg="delSp modSp mod">
        <pc:chgData name="Antonio José Soto Rodriguez" userId="8579524ee905eeb0" providerId="LiveId" clId="{C7B76ECC-4C30-43E9-81E0-1A89685E4207}" dt="2026-04-28T17:26:06.508" v="85" actId="478"/>
        <pc:sldMkLst>
          <pc:docMk/>
          <pc:sldMk cId="0" sldId="256"/>
        </pc:sldMkLst>
        <pc:spChg chg="mod">
          <ac:chgData name="Antonio José Soto Rodriguez" userId="8579524ee905eeb0" providerId="LiveId" clId="{C7B76ECC-4C30-43E9-81E0-1A89685E4207}" dt="2026-04-28T17:23:05.742" v="78" actId="20577"/>
          <ac:spMkLst>
            <pc:docMk/>
            <pc:sldMk cId="0" sldId="256"/>
            <ac:spMk id="24" creationId="{00000000-0000-0000-0000-000000000000}"/>
          </ac:spMkLst>
        </pc:spChg>
        <pc:spChg chg="del">
          <ac:chgData name="Antonio José Soto Rodriguez" userId="8579524ee905eeb0" providerId="LiveId" clId="{C7B76ECC-4C30-43E9-81E0-1A89685E4207}" dt="2026-04-28T17:22:59.950" v="71" actId="478"/>
          <ac:spMkLst>
            <pc:docMk/>
            <pc:sldMk cId="0" sldId="256"/>
            <ac:spMk id="26" creationId="{00000000-0000-0000-0000-000000000000}"/>
          </ac:spMkLst>
        </pc:spChg>
        <pc:spChg chg="del">
          <ac:chgData name="Antonio José Soto Rodriguez" userId="8579524ee905eeb0" providerId="LiveId" clId="{C7B76ECC-4C30-43E9-81E0-1A89685E4207}" dt="2026-04-28T17:23:01.863" v="73" actId="478"/>
          <ac:spMkLst>
            <pc:docMk/>
            <pc:sldMk cId="0" sldId="256"/>
            <ac:spMk id="27" creationId="{00000000-0000-0000-0000-000000000000}"/>
          </ac:spMkLst>
        </pc:spChg>
        <pc:spChg chg="del">
          <ac:chgData name="Antonio José Soto Rodriguez" userId="8579524ee905eeb0" providerId="LiveId" clId="{C7B76ECC-4C30-43E9-81E0-1A89685E4207}" dt="2026-04-28T17:23:00.930" v="72" actId="478"/>
          <ac:spMkLst>
            <pc:docMk/>
            <pc:sldMk cId="0" sldId="256"/>
            <ac:spMk id="28" creationId="{00000000-0000-0000-0000-000000000000}"/>
          </ac:spMkLst>
        </pc:spChg>
        <pc:spChg chg="del">
          <ac:chgData name="Antonio José Soto Rodriguez" userId="8579524ee905eeb0" providerId="LiveId" clId="{C7B76ECC-4C30-43E9-81E0-1A89685E4207}" dt="2026-04-28T17:23:02.751" v="74" actId="478"/>
          <ac:spMkLst>
            <pc:docMk/>
            <pc:sldMk cId="0" sldId="256"/>
            <ac:spMk id="29" creationId="{00000000-0000-0000-0000-000000000000}"/>
          </ac:spMkLst>
        </pc:spChg>
        <pc:spChg chg="del">
          <ac:chgData name="Antonio José Soto Rodriguez" userId="8579524ee905eeb0" providerId="LiveId" clId="{C7B76ECC-4C30-43E9-81E0-1A89685E4207}" dt="2026-04-28T17:26:06.508" v="85" actId="478"/>
          <ac:spMkLst>
            <pc:docMk/>
            <pc:sldMk cId="0" sldId="256"/>
            <ac:spMk id="30" creationId="{00000000-0000-0000-0000-000000000000}"/>
          </ac:spMkLst>
        </pc:spChg>
        <pc:spChg chg="del">
          <ac:chgData name="Antonio José Soto Rodriguez" userId="8579524ee905eeb0" providerId="LiveId" clId="{C7B76ECC-4C30-43E9-81E0-1A89685E4207}" dt="2026-04-28T17:26:02.354" v="84" actId="478"/>
          <ac:spMkLst>
            <pc:docMk/>
            <pc:sldMk cId="0" sldId="256"/>
            <ac:spMk id="31" creationId="{00000000-0000-0000-0000-000000000000}"/>
          </ac:spMkLst>
        </pc:spChg>
        <pc:spChg chg="del">
          <ac:chgData name="Antonio José Soto Rodriguez" userId="8579524ee905eeb0" providerId="LiveId" clId="{C7B76ECC-4C30-43E9-81E0-1A89685E4207}" dt="2026-04-28T17:26:01.131" v="83" actId="478"/>
          <ac:spMkLst>
            <pc:docMk/>
            <pc:sldMk cId="0" sldId="256"/>
            <ac:spMk id="32" creationId="{00000000-0000-0000-0000-000000000000}"/>
          </ac:spMkLst>
        </pc:spChg>
      </pc:sldChg>
      <pc:sldChg chg="modSp mod modShow">
        <pc:chgData name="Antonio José Soto Rodriguez" userId="8579524ee905eeb0" providerId="LiveId" clId="{C7B76ECC-4C30-43E9-81E0-1A89685E4207}" dt="2026-04-28T17:18:11.284" v="19" actId="27636"/>
        <pc:sldMkLst>
          <pc:docMk/>
          <pc:sldMk cId="0" sldId="257"/>
        </pc:sldMkLst>
        <pc:spChg chg="mod">
          <ac:chgData name="Antonio José Soto Rodriguez" userId="8579524ee905eeb0" providerId="LiveId" clId="{C7B76ECC-4C30-43E9-81E0-1A89685E4207}" dt="2026-04-28T17:18:11.261" v="15" actId="27636"/>
          <ac:spMkLst>
            <pc:docMk/>
            <pc:sldMk cId="0" sldId="257"/>
            <ac:spMk id="20" creationId="{00000000-0000-0000-0000-000000000000}"/>
          </ac:spMkLst>
        </pc:spChg>
        <pc:spChg chg="mod">
          <ac:chgData name="Antonio José Soto Rodriguez" userId="8579524ee905eeb0" providerId="LiveId" clId="{C7B76ECC-4C30-43E9-81E0-1A89685E4207}" dt="2026-04-28T17:18:11.277" v="18" actId="27636"/>
          <ac:spMkLst>
            <pc:docMk/>
            <pc:sldMk cId="0" sldId="257"/>
            <ac:spMk id="23" creationId="{00000000-0000-0000-0000-000000000000}"/>
          </ac:spMkLst>
        </pc:spChg>
        <pc:spChg chg="mod">
          <ac:chgData name="Antonio José Soto Rodriguez" userId="8579524ee905eeb0" providerId="LiveId" clId="{C7B76ECC-4C30-43E9-81E0-1A89685E4207}" dt="2026-04-28T17:18:11.255" v="14" actId="27636"/>
          <ac:spMkLst>
            <pc:docMk/>
            <pc:sldMk cId="0" sldId="257"/>
            <ac:spMk id="26" creationId="{00000000-0000-0000-0000-000000000000}"/>
          </ac:spMkLst>
        </pc:spChg>
        <pc:spChg chg="mod">
          <ac:chgData name="Antonio José Soto Rodriguez" userId="8579524ee905eeb0" providerId="LiveId" clId="{C7B76ECC-4C30-43E9-81E0-1A89685E4207}" dt="2026-04-28T17:18:11.264" v="16" actId="27636"/>
          <ac:spMkLst>
            <pc:docMk/>
            <pc:sldMk cId="0" sldId="257"/>
            <ac:spMk id="29" creationId="{00000000-0000-0000-0000-000000000000}"/>
          </ac:spMkLst>
        </pc:spChg>
        <pc:spChg chg="mod">
          <ac:chgData name="Antonio José Soto Rodriguez" userId="8579524ee905eeb0" providerId="LiveId" clId="{C7B76ECC-4C30-43E9-81E0-1A89685E4207}" dt="2026-04-28T17:18:11.284" v="19" actId="27636"/>
          <ac:spMkLst>
            <pc:docMk/>
            <pc:sldMk cId="0" sldId="257"/>
            <ac:spMk id="30" creationId="{00000000-0000-0000-0000-000000000000}"/>
          </ac:spMkLst>
        </pc:spChg>
        <pc:spChg chg="mod">
          <ac:chgData name="Antonio José Soto Rodriguez" userId="8579524ee905eeb0" providerId="LiveId" clId="{C7B76ECC-4C30-43E9-81E0-1A89685E4207}" dt="2026-04-28T17:18:11.270" v="17" actId="27636"/>
          <ac:spMkLst>
            <pc:docMk/>
            <pc:sldMk cId="0" sldId="257"/>
            <ac:spMk id="32" creationId="{00000000-0000-0000-0000-000000000000}"/>
          </ac:spMkLst>
        </pc:spChg>
      </pc:sldChg>
      <pc:sldChg chg="modSp mod">
        <pc:chgData name="Antonio José Soto Rodriguez" userId="8579524ee905eeb0" providerId="LiveId" clId="{C7B76ECC-4C30-43E9-81E0-1A89685E4207}" dt="2026-04-28T17:17:52.561" v="1" actId="14100"/>
        <pc:sldMkLst>
          <pc:docMk/>
          <pc:sldMk cId="0" sldId="258"/>
        </pc:sldMkLst>
        <pc:spChg chg="mod">
          <ac:chgData name="Antonio José Soto Rodriguez" userId="8579524ee905eeb0" providerId="LiveId" clId="{C7B76ECC-4C30-43E9-81E0-1A89685E4207}" dt="2026-04-28T17:17:52.561" v="1" actId="14100"/>
          <ac:spMkLst>
            <pc:docMk/>
            <pc:sldMk cId="0" sldId="258"/>
            <ac:spMk id="18" creationId="{00000000-0000-0000-0000-000000000000}"/>
          </ac:spMkLst>
        </pc:spChg>
      </pc:sldChg>
      <pc:sldChg chg="addSp modSp mod">
        <pc:chgData name="Antonio José Soto Rodriguez" userId="8579524ee905eeb0" providerId="LiveId" clId="{C7B76ECC-4C30-43E9-81E0-1A89685E4207}" dt="2026-04-28T17:18:22.766" v="24" actId="14100"/>
        <pc:sldMkLst>
          <pc:docMk/>
          <pc:sldMk cId="0" sldId="259"/>
        </pc:sldMkLst>
        <pc:spChg chg="mod">
          <ac:chgData name="Antonio José Soto Rodriguez" userId="8579524ee905eeb0" providerId="LiveId" clId="{C7B76ECC-4C30-43E9-81E0-1A89685E4207}" dt="2026-04-28T17:18:08.367" v="4" actId="14100"/>
          <ac:spMkLst>
            <pc:docMk/>
            <pc:sldMk cId="0" sldId="259"/>
            <ac:spMk id="19" creationId="{00000000-0000-0000-0000-000000000000}"/>
          </ac:spMkLst>
        </pc:spChg>
        <pc:spChg chg="add mod">
          <ac:chgData name="Antonio José Soto Rodriguez" userId="8579524ee905eeb0" providerId="LiveId" clId="{C7B76ECC-4C30-43E9-81E0-1A89685E4207}" dt="2026-04-28T17:18:16.614" v="21" actId="14100"/>
          <ac:spMkLst>
            <pc:docMk/>
            <pc:sldMk cId="0" sldId="259"/>
            <ac:spMk id="31" creationId="{F033F77A-FA0E-EF1E-4A16-A0A7452BD548}"/>
          </ac:spMkLst>
        </pc:spChg>
        <pc:spChg chg="add mod">
          <ac:chgData name="Antonio José Soto Rodriguez" userId="8579524ee905eeb0" providerId="LiveId" clId="{C7B76ECC-4C30-43E9-81E0-1A89685E4207}" dt="2026-04-28T17:18:22.766" v="24" actId="14100"/>
          <ac:spMkLst>
            <pc:docMk/>
            <pc:sldMk cId="0" sldId="259"/>
            <ac:spMk id="32" creationId="{6E5DB9BD-5DB6-0990-4FC4-77BE7B418625}"/>
          </ac:spMkLst>
        </pc:spChg>
      </pc:sldChg>
      <pc:sldChg chg="modSp mod">
        <pc:chgData name="Antonio José Soto Rodriguez" userId="8579524ee905eeb0" providerId="LiveId" clId="{C7B76ECC-4C30-43E9-81E0-1A89685E4207}" dt="2026-04-28T17:19:41.120" v="26" actId="14100"/>
        <pc:sldMkLst>
          <pc:docMk/>
          <pc:sldMk cId="0" sldId="262"/>
        </pc:sldMkLst>
        <pc:spChg chg="mod">
          <ac:chgData name="Antonio José Soto Rodriguez" userId="8579524ee905eeb0" providerId="LiveId" clId="{C7B76ECC-4C30-43E9-81E0-1A89685E4207}" dt="2026-04-28T17:19:41.120" v="26" actId="14100"/>
          <ac:spMkLst>
            <pc:docMk/>
            <pc:sldMk cId="0" sldId="262"/>
            <ac:spMk id="24" creationId="{00000000-0000-0000-0000-000000000000}"/>
          </ac:spMkLst>
        </pc:spChg>
      </pc:sldChg>
      <pc:sldChg chg="addSp modSp mod">
        <pc:chgData name="Antonio José Soto Rodriguez" userId="8579524ee905eeb0" providerId="LiveId" clId="{C7B76ECC-4C30-43E9-81E0-1A89685E4207}" dt="2026-04-28T17:20:22.383" v="37" actId="14100"/>
        <pc:sldMkLst>
          <pc:docMk/>
          <pc:sldMk cId="0" sldId="263"/>
        </pc:sldMkLst>
        <pc:spChg chg="mod">
          <ac:chgData name="Antonio José Soto Rodriguez" userId="8579524ee905eeb0" providerId="LiveId" clId="{C7B76ECC-4C30-43E9-81E0-1A89685E4207}" dt="2026-04-28T17:19:54.662" v="27" actId="14100"/>
          <ac:spMkLst>
            <pc:docMk/>
            <pc:sldMk cId="0" sldId="263"/>
            <ac:spMk id="29" creationId="{00000000-0000-0000-0000-000000000000}"/>
          </ac:spMkLst>
        </pc:spChg>
        <pc:spChg chg="add mod">
          <ac:chgData name="Antonio José Soto Rodriguez" userId="8579524ee905eeb0" providerId="LiveId" clId="{C7B76ECC-4C30-43E9-81E0-1A89685E4207}" dt="2026-04-28T17:20:03.238" v="30" actId="14100"/>
          <ac:spMkLst>
            <pc:docMk/>
            <pc:sldMk cId="0" sldId="263"/>
            <ac:spMk id="46" creationId="{CDA809B2-F92D-8236-CD3C-3CD280F6692A}"/>
          </ac:spMkLst>
        </pc:spChg>
        <pc:spChg chg="add mod">
          <ac:chgData name="Antonio José Soto Rodriguez" userId="8579524ee905eeb0" providerId="LiveId" clId="{C7B76ECC-4C30-43E9-81E0-1A89685E4207}" dt="2026-04-28T17:20:10.790" v="33" actId="14100"/>
          <ac:spMkLst>
            <pc:docMk/>
            <pc:sldMk cId="0" sldId="263"/>
            <ac:spMk id="47" creationId="{E0D17543-F8C3-BD02-C3E7-033A8EE9376D}"/>
          </ac:spMkLst>
        </pc:spChg>
        <pc:spChg chg="add mod">
          <ac:chgData name="Antonio José Soto Rodriguez" userId="8579524ee905eeb0" providerId="LiveId" clId="{C7B76ECC-4C30-43E9-81E0-1A89685E4207}" dt="2026-04-28T17:20:22.383" v="37" actId="14100"/>
          <ac:spMkLst>
            <pc:docMk/>
            <pc:sldMk cId="0" sldId="263"/>
            <ac:spMk id="48" creationId="{E49E0686-BF97-DF2D-83F7-749115C80CA1}"/>
          </ac:spMkLst>
        </pc:spChg>
      </pc:sldChg>
      <pc:sldChg chg="modSp mod">
        <pc:chgData name="Antonio José Soto Rodriguez" userId="8579524ee905eeb0" providerId="LiveId" clId="{C7B76ECC-4C30-43E9-81E0-1A89685E4207}" dt="2026-04-28T17:18:11.057" v="7" actId="27636"/>
        <pc:sldMkLst>
          <pc:docMk/>
          <pc:sldMk cId="0" sldId="265"/>
        </pc:sldMkLst>
        <pc:spChg chg="mod">
          <ac:chgData name="Antonio José Soto Rodriguez" userId="8579524ee905eeb0" providerId="LiveId" clId="{C7B76ECC-4C30-43E9-81E0-1A89685E4207}" dt="2026-04-28T17:18:11.041" v="6" actId="27636"/>
          <ac:spMkLst>
            <pc:docMk/>
            <pc:sldMk cId="0" sldId="265"/>
            <ac:spMk id="15" creationId="{00000000-0000-0000-0000-000000000000}"/>
          </ac:spMkLst>
        </pc:spChg>
        <pc:spChg chg="mod">
          <ac:chgData name="Antonio José Soto Rodriguez" userId="8579524ee905eeb0" providerId="LiveId" clId="{C7B76ECC-4C30-43E9-81E0-1A89685E4207}" dt="2026-04-28T17:18:11.057" v="7" actId="27636"/>
          <ac:spMkLst>
            <pc:docMk/>
            <pc:sldMk cId="0" sldId="265"/>
            <ac:spMk id="23" creationId="{00000000-0000-0000-0000-000000000000}"/>
          </ac:spMkLst>
        </pc:spChg>
      </pc:sldChg>
      <pc:sldChg chg="delSp modSp mod">
        <pc:chgData name="Antonio José Soto Rodriguez" userId="8579524ee905eeb0" providerId="LiveId" clId="{C7B76ECC-4C30-43E9-81E0-1A89685E4207}" dt="2026-04-28T17:20:42.190" v="41" actId="478"/>
        <pc:sldMkLst>
          <pc:docMk/>
          <pc:sldMk cId="0" sldId="266"/>
        </pc:sldMkLst>
        <pc:spChg chg="del">
          <ac:chgData name="Antonio José Soto Rodriguez" userId="8579524ee905eeb0" providerId="LiveId" clId="{C7B76ECC-4C30-43E9-81E0-1A89685E4207}" dt="2026-04-28T17:20:38.911" v="39" actId="478"/>
          <ac:spMkLst>
            <pc:docMk/>
            <pc:sldMk cId="0" sldId="266"/>
            <ac:spMk id="2" creationId="{00000000-0000-0000-0000-000000000000}"/>
          </ac:spMkLst>
        </pc:spChg>
        <pc:spChg chg="mod">
          <ac:chgData name="Antonio José Soto Rodriguez" userId="8579524ee905eeb0" providerId="LiveId" clId="{C7B76ECC-4C30-43E9-81E0-1A89685E4207}" dt="2026-04-28T17:20:36.893" v="38" actId="14100"/>
          <ac:spMkLst>
            <pc:docMk/>
            <pc:sldMk cId="0" sldId="266"/>
            <ac:spMk id="24" creationId="{00000000-0000-0000-0000-000000000000}"/>
          </ac:spMkLst>
        </pc:spChg>
        <pc:spChg chg="del">
          <ac:chgData name="Antonio José Soto Rodriguez" userId="8579524ee905eeb0" providerId="LiveId" clId="{C7B76ECC-4C30-43E9-81E0-1A89685E4207}" dt="2026-04-28T17:20:42.190" v="41" actId="478"/>
          <ac:spMkLst>
            <pc:docMk/>
            <pc:sldMk cId="0" sldId="266"/>
            <ac:spMk id="29" creationId="{00000000-0000-0000-0000-000000000000}"/>
          </ac:spMkLst>
        </pc:spChg>
        <pc:spChg chg="del">
          <ac:chgData name="Antonio José Soto Rodriguez" userId="8579524ee905eeb0" providerId="LiveId" clId="{C7B76ECC-4C30-43E9-81E0-1A89685E4207}" dt="2026-04-28T17:20:42.190" v="41" actId="478"/>
          <ac:spMkLst>
            <pc:docMk/>
            <pc:sldMk cId="0" sldId="266"/>
            <ac:spMk id="30" creationId="{00000000-0000-0000-0000-000000000000}"/>
          </ac:spMkLst>
        </pc:spChg>
        <pc:spChg chg="del">
          <ac:chgData name="Antonio José Soto Rodriguez" userId="8579524ee905eeb0" providerId="LiveId" clId="{C7B76ECC-4C30-43E9-81E0-1A89685E4207}" dt="2026-04-28T17:20:42.190" v="41" actId="478"/>
          <ac:spMkLst>
            <pc:docMk/>
            <pc:sldMk cId="0" sldId="266"/>
            <ac:spMk id="31" creationId="{00000000-0000-0000-0000-000000000000}"/>
          </ac:spMkLst>
        </pc:spChg>
        <pc:spChg chg="del">
          <ac:chgData name="Antonio José Soto Rodriguez" userId="8579524ee905eeb0" providerId="LiveId" clId="{C7B76ECC-4C30-43E9-81E0-1A89685E4207}" dt="2026-04-28T17:20:39.654" v="40" actId="478"/>
          <ac:spMkLst>
            <pc:docMk/>
            <pc:sldMk cId="0" sldId="266"/>
            <ac:spMk id="32" creationId="{00000000-0000-0000-0000-000000000000}"/>
          </ac:spMkLst>
        </pc:spChg>
        <pc:spChg chg="del">
          <ac:chgData name="Antonio José Soto Rodriguez" userId="8579524ee905eeb0" providerId="LiveId" clId="{C7B76ECC-4C30-43E9-81E0-1A89685E4207}" dt="2026-04-28T17:20:42.190" v="41" actId="478"/>
          <ac:spMkLst>
            <pc:docMk/>
            <pc:sldMk cId="0" sldId="266"/>
            <ac:spMk id="33" creationId="{00000000-0000-0000-0000-000000000000}"/>
          </ac:spMkLst>
        </pc:spChg>
        <pc:spChg chg="del">
          <ac:chgData name="Antonio José Soto Rodriguez" userId="8579524ee905eeb0" providerId="LiveId" clId="{C7B76ECC-4C30-43E9-81E0-1A89685E4207}" dt="2026-04-28T17:20:42.190" v="41" actId="478"/>
          <ac:spMkLst>
            <pc:docMk/>
            <pc:sldMk cId="0" sldId="266"/>
            <ac:spMk id="34" creationId="{00000000-0000-0000-0000-000000000000}"/>
          </ac:spMkLst>
        </pc:spChg>
      </pc:sldChg>
      <pc:sldChg chg="modSp mod">
        <pc:chgData name="Antonio José Soto Rodriguez" userId="8579524ee905eeb0" providerId="LiveId" clId="{C7B76ECC-4C30-43E9-81E0-1A89685E4207}" dt="2026-04-28T17:20:48.757" v="42" actId="14100"/>
        <pc:sldMkLst>
          <pc:docMk/>
          <pc:sldMk cId="0" sldId="267"/>
        </pc:sldMkLst>
        <pc:spChg chg="mod">
          <ac:chgData name="Antonio José Soto Rodriguez" userId="8579524ee905eeb0" providerId="LiveId" clId="{C7B76ECC-4C30-43E9-81E0-1A89685E4207}" dt="2026-04-28T17:20:48.757" v="42" actId="14100"/>
          <ac:spMkLst>
            <pc:docMk/>
            <pc:sldMk cId="0" sldId="267"/>
            <ac:spMk id="23" creationId="{00000000-0000-0000-0000-000000000000}"/>
          </ac:spMkLst>
        </pc:spChg>
        <pc:spChg chg="mod">
          <ac:chgData name="Antonio José Soto Rodriguez" userId="8579524ee905eeb0" providerId="LiveId" clId="{C7B76ECC-4C30-43E9-81E0-1A89685E4207}" dt="2026-04-28T17:18:11.094" v="9" actId="27636"/>
          <ac:spMkLst>
            <pc:docMk/>
            <pc:sldMk cId="0" sldId="267"/>
            <ac:spMk id="32" creationId="{00000000-0000-0000-0000-000000000000}"/>
          </ac:spMkLst>
        </pc:spChg>
        <pc:spChg chg="mod">
          <ac:chgData name="Antonio José Soto Rodriguez" userId="8579524ee905eeb0" providerId="LiveId" clId="{C7B76ECC-4C30-43E9-81E0-1A89685E4207}" dt="2026-04-28T17:18:11.085" v="8" actId="27636"/>
          <ac:spMkLst>
            <pc:docMk/>
            <pc:sldMk cId="0" sldId="267"/>
            <ac:spMk id="34" creationId="{00000000-0000-0000-0000-000000000000}"/>
          </ac:spMkLst>
        </pc:spChg>
      </pc:sldChg>
      <pc:sldChg chg="modSp mod">
        <pc:chgData name="Antonio José Soto Rodriguez" userId="8579524ee905eeb0" providerId="LiveId" clId="{C7B76ECC-4C30-43E9-81E0-1A89685E4207}" dt="2026-04-28T17:18:11.111" v="11" actId="27636"/>
        <pc:sldMkLst>
          <pc:docMk/>
          <pc:sldMk cId="0" sldId="268"/>
        </pc:sldMkLst>
        <pc:spChg chg="mod">
          <ac:chgData name="Antonio José Soto Rodriguez" userId="8579524ee905eeb0" providerId="LiveId" clId="{C7B76ECC-4C30-43E9-81E0-1A89685E4207}" dt="2026-04-28T17:18:11.107" v="10" actId="27636"/>
          <ac:spMkLst>
            <pc:docMk/>
            <pc:sldMk cId="0" sldId="268"/>
            <ac:spMk id="15" creationId="{00000000-0000-0000-0000-000000000000}"/>
          </ac:spMkLst>
        </pc:spChg>
        <pc:spChg chg="mod">
          <ac:chgData name="Antonio José Soto Rodriguez" userId="8579524ee905eeb0" providerId="LiveId" clId="{C7B76ECC-4C30-43E9-81E0-1A89685E4207}" dt="2026-04-28T17:18:11.111" v="11" actId="27636"/>
          <ac:spMkLst>
            <pc:docMk/>
            <pc:sldMk cId="0" sldId="268"/>
            <ac:spMk id="22" creationId="{00000000-0000-0000-0000-000000000000}"/>
          </ac:spMkLst>
        </pc:spChg>
      </pc:sldChg>
      <pc:sldChg chg="mod modShow">
        <pc:chgData name="Antonio José Soto Rodriguez" userId="8579524ee905eeb0" providerId="LiveId" clId="{C7B76ECC-4C30-43E9-81E0-1A89685E4207}" dt="2026-04-28T17:20:59.252" v="43" actId="729"/>
        <pc:sldMkLst>
          <pc:docMk/>
          <pc:sldMk cId="0" sldId="269"/>
        </pc:sldMkLst>
      </pc:sldChg>
      <pc:sldChg chg="mod modShow">
        <pc:chgData name="Antonio José Soto Rodriguez" userId="8579524ee905eeb0" providerId="LiveId" clId="{C7B76ECC-4C30-43E9-81E0-1A89685E4207}" dt="2026-04-28T17:21:08.345" v="44" actId="729"/>
        <pc:sldMkLst>
          <pc:docMk/>
          <pc:sldMk cId="0" sldId="270"/>
        </pc:sldMkLst>
      </pc:sldChg>
      <pc:sldChg chg="mod modShow">
        <pc:chgData name="Antonio José Soto Rodriguez" userId="8579524ee905eeb0" providerId="LiveId" clId="{C7B76ECC-4C30-43E9-81E0-1A89685E4207}" dt="2026-04-28T17:21:10.262" v="45" actId="729"/>
        <pc:sldMkLst>
          <pc:docMk/>
          <pc:sldMk cId="0" sldId="271"/>
        </pc:sldMkLst>
      </pc:sldChg>
      <pc:sldChg chg="mod modShow">
        <pc:chgData name="Antonio José Soto Rodriguez" userId="8579524ee905eeb0" providerId="LiveId" clId="{C7B76ECC-4C30-43E9-81E0-1A89685E4207}" dt="2026-04-28T17:21:13.958" v="46" actId="729"/>
        <pc:sldMkLst>
          <pc:docMk/>
          <pc:sldMk cId="0" sldId="272"/>
        </pc:sldMkLst>
      </pc:sldChg>
      <pc:sldChg chg="modSp mod">
        <pc:chgData name="Antonio José Soto Rodriguez" userId="8579524ee905eeb0" providerId="LiveId" clId="{C7B76ECC-4C30-43E9-81E0-1A89685E4207}" dt="2026-04-28T17:21:38.493" v="68" actId="20577"/>
        <pc:sldMkLst>
          <pc:docMk/>
          <pc:sldMk cId="0" sldId="273"/>
        </pc:sldMkLst>
        <pc:spChg chg="mod">
          <ac:chgData name="Antonio José Soto Rodriguez" userId="8579524ee905eeb0" providerId="LiveId" clId="{C7B76ECC-4C30-43E9-81E0-1A89685E4207}" dt="2026-04-28T17:21:23.804" v="47" actId="6549"/>
          <ac:spMkLst>
            <pc:docMk/>
            <pc:sldMk cId="0" sldId="273"/>
            <ac:spMk id="16" creationId="{00000000-0000-0000-0000-000000000000}"/>
          </ac:spMkLst>
        </pc:spChg>
        <pc:spChg chg="mod">
          <ac:chgData name="Antonio José Soto Rodriguez" userId="8579524ee905eeb0" providerId="LiveId" clId="{C7B76ECC-4C30-43E9-81E0-1A89685E4207}" dt="2026-04-28T17:21:38.493" v="68" actId="20577"/>
          <ac:spMkLst>
            <pc:docMk/>
            <pc:sldMk cId="0" sldId="273"/>
            <ac:spMk id="21" creationId="{00000000-0000-0000-0000-000000000000}"/>
          </ac:spMkLst>
        </pc:spChg>
      </pc:sldChg>
      <pc:sldChg chg="modSp del mod">
        <pc:chgData name="Antonio José Soto Rodriguez" userId="8579524ee905eeb0" providerId="LiveId" clId="{C7B76ECC-4C30-43E9-81E0-1A89685E4207}" dt="2026-04-28T17:22:43.452" v="69" actId="47"/>
        <pc:sldMkLst>
          <pc:docMk/>
          <pc:sldMk cId="0" sldId="274"/>
        </pc:sldMkLst>
        <pc:spChg chg="mod">
          <ac:chgData name="Antonio José Soto Rodriguez" userId="8579524ee905eeb0" providerId="LiveId" clId="{C7B76ECC-4C30-43E9-81E0-1A89685E4207}" dt="2026-04-28T17:18:11.216" v="13" actId="27636"/>
          <ac:spMkLst>
            <pc:docMk/>
            <pc:sldMk cId="0" sldId="274"/>
            <ac:spMk id="20" creationId="{00000000-0000-0000-0000-000000000000}"/>
          </ac:spMkLst>
        </pc:spChg>
      </pc:sldChg>
      <pc:sldChg chg="delSp add mod setBg">
        <pc:chgData name="Antonio José Soto Rodriguez" userId="8579524ee905eeb0" providerId="LiveId" clId="{C7B76ECC-4C30-43E9-81E0-1A89685E4207}" dt="2026-04-28T17:25:47.065" v="82" actId="478"/>
        <pc:sldMkLst>
          <pc:docMk/>
          <pc:sldMk cId="614169603" sldId="274"/>
        </pc:sldMkLst>
        <pc:spChg chg="del">
          <ac:chgData name="Antonio José Soto Rodriguez" userId="8579524ee905eeb0" providerId="LiveId" clId="{C7B76ECC-4C30-43E9-81E0-1A89685E4207}" dt="2026-04-28T17:25:47.065" v="82" actId="478"/>
          <ac:spMkLst>
            <pc:docMk/>
            <pc:sldMk cId="614169603" sldId="274"/>
            <ac:spMk id="30" creationId="{C2516E54-ADF5-E6D5-25C6-9B6C33EB03EE}"/>
          </ac:spMkLst>
        </pc:spChg>
        <pc:spChg chg="del">
          <ac:chgData name="Antonio José Soto Rodriguez" userId="8579524ee905eeb0" providerId="LiveId" clId="{C7B76ECC-4C30-43E9-81E0-1A89685E4207}" dt="2026-04-28T17:25:39.757" v="80" actId="478"/>
          <ac:spMkLst>
            <pc:docMk/>
            <pc:sldMk cId="614169603" sldId="274"/>
            <ac:spMk id="31" creationId="{702C639C-42DC-D0AE-7EFA-FE6A7019A4DC}"/>
          </ac:spMkLst>
        </pc:spChg>
        <pc:spChg chg="del">
          <ac:chgData name="Antonio José Soto Rodriguez" userId="8579524ee905eeb0" providerId="LiveId" clId="{C7B76ECC-4C30-43E9-81E0-1A89685E4207}" dt="2026-04-28T17:25:42.642" v="81" actId="478"/>
          <ac:spMkLst>
            <pc:docMk/>
            <pc:sldMk cId="614169603" sldId="274"/>
            <ac:spMk id="32" creationId="{F0C815E4-CC8C-4D8A-6CEC-81DA21865A0B}"/>
          </ac:spMkLst>
        </pc:spChg>
      </pc:sldChg>
      <pc:sldChg chg="del">
        <pc:chgData name="Antonio José Soto Rodriguez" userId="8579524ee905eeb0" providerId="LiveId" clId="{C7B76ECC-4C30-43E9-81E0-1A89685E4207}" dt="2026-04-28T17:22:47.091" v="70" actId="47"/>
        <pc:sldMkLst>
          <pc:docMk/>
          <pc:sldMk cId="0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6552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sugerido: 2 minutos. Abrir con la idea central: no vamos a hablar de agentes de forma abstracta; vamos a aterrizarlos en una solución de negocio para FraSoHome y en una arquitectura que puede construirse en Microsoft Foundry. Todo el contenido de esta versión está hecho con texto y formas editables de PowerPoint.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sugerido: 3 minutos. Usar esta slide como contrato de la sesión. La primera media hora aterriza conceptos y plataforma; la segunda se dedica a arquitectura de FraSoHome y guion de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sugerido: 3 minutos. Explicar que un agente no es un chatbot con nombre bonito. La diferencia práctica aparece cuando se conectan herramientas, conocimiento, trazas y un proceso de negocio.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sugerido: 3 minutos. Poner énfasis en que cada agente debe tener una responsabilidad delimitada, conocimiento acotado, herramientas específicas y una salida verificable.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sugerido: 3 minutos. Fuente oficial: la documentación de Microsoft Foundry y Foundry Agent Service describe Agent Service como plataforma gestionada para construir, desplegar y escalar agentes, con tipos de agentes y runtime gestionado.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sugerido: 4 minutos. Fuente oficial: Microsoft Agent Framework recomienda usar agentes para tareas abiertas o con diálogo y workflows cuando el proceso tiene pasos bien definidos; Foundry Agent Service documenta prompt, workflow y hosted agents.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sugerido: 3 minutos. FraSoHome es una cadena ficticia de muebles y decoración con CRM, POS, e-commerce y ERP, y problemas deliberados de calidad de datos. Este escenario permite diseñar agentes que resuelvan preguntas de negocio y tareas de preparación de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sugerido: 5 minutos. Esta es la arquitectura principal que conviene dejar clara. El orquestador no debe hacerlo todo: enruta, mantiene estado y sintetiza. Los agentes especialistas trabajan con herramientas o conocimiento acotado y devuelven salidas con contrato.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sugerido: 3 minutos. Mostrar que un sistema multiagente necesita contratos. En la demo, cada agente puede devolver JSON o una estructura equivalente para que el orquestador pueda componer el resultado sin ambigüedad.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sugerido: 3 minutos. Fuente oficial: la documentación de File Search en Foundry Agent Service indica que se usa para buscar en documentos cargados, crear vector stores y configurar agentes con conocimiento externo.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sugerido: 3 minutos. Fuente oficial: Code Interpreter en Foundry Agent Service permite ejecutar código Python en un entorno sandbox para análisis de datos, cálculo y generación de gráficos.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sugerido: 4 minutos. Fuente oficial: los workflows de Microsoft Foundry se utilizan para orquestar múltiples agentes, añadir branching, variables y pasos human-in-the-loop cuando el proceso debe estar definido y ser repetible.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sugerido: 3 minutos. Fuente oficial: Microsoft Agent Framework permite construir agentes y workflows multiagente en Python y .NET, combinando conceptos de Semantic Kernel y AutoGen con features empresariales y workflows basados en grafos.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sugerido: 2 minutos. Antes de la demo, explicar la narrativa completa: primero conocimiento, después datos y finalmente orquestación. Esto ayuda a que un público no técnico siga el hilo.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sugerido: 4 minutos. Mostrar cómo el agente se comporta mejor cuando su conocimiento está delimitado. Recalcar que si no encuentra evidencia suficiente debe decirlo.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sugerido: 5 minutos. Mostrar que el valor no es solo ejecutar pandas, sino traducir el resultado a lenguaje de negocio y priorizar qué limpiar primero.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sugerido: 5 minutos. Esta es la escena más importante de la parte divulgativa: explicar que cada agente aporta una pieza y el resultado final combina evidencias, riesgos y acción.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sugerido: 4 minutos. Fuentes oficiales: Microsoft Foundry documenta RBAC, autenticación con Microsoft Entra ID, tracing de agentes y evaluación de agentes. La parte de gobernanza debe ser visible incluso si el prototipo es de hackathon.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36124-A8F2-26CB-49C2-442F97E70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5280A6-0D02-8949-9880-604BEFDA29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BC716F-1447-C8E8-0F7A-04D8AD18E4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sugerido: 2 minutos. Abrir con la idea central: no vamos a hablar de agentes de forma abstracta; vamos a aterrizarlos en una solución de negocio para FraSoHome y en una arquitectura que puede construirse en Microsoft Foundry. Todo el contenido de esta versión está hecho con texto y formas editables de PowerPoint.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2BC11-5544-D3B7-2F0D-478F652EAB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8910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6"/>
          </a:solidFill>
          <a:ln w="12700">
            <a:solidFill>
              <a:srgbClr val="0714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D7FF"/>
          </a:solidFill>
          <a:ln w="12700">
            <a:solidFill>
              <a:srgbClr val="2BD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8C6BFF"/>
          </a:solidFill>
          <a:ln w="12700">
            <a:solidFill>
              <a:srgbClr val="8C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2700">
            <a:solidFill>
              <a:srgbClr val="152D5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30352" y="6556248"/>
            <a:ext cx="79370" cy="79370"/>
          </a:xfrm>
          <a:prstGeom prst="roundRect">
            <a:avLst/>
          </a:prstGeom>
          <a:solidFill>
            <a:srgbClr val="7BD83D"/>
          </a:solidFill>
          <a:ln w="12700">
            <a:solidFill>
              <a:srgbClr val="7BD8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640903" y="6556248"/>
            <a:ext cx="79370" cy="79370"/>
          </a:xfrm>
          <a:prstGeom prst="roundRect">
            <a:avLst/>
          </a:prstGeom>
          <a:solidFill>
            <a:srgbClr val="2BC4C9"/>
          </a:solidFill>
          <a:ln w="12700">
            <a:solidFill>
              <a:srgbClr val="2BC4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30352" y="6666799"/>
            <a:ext cx="79370" cy="79370"/>
          </a:xfrm>
          <a:prstGeom prst="roundRect">
            <a:avLst/>
          </a:prstGeom>
          <a:solidFill>
            <a:srgbClr val="2BC4C9"/>
          </a:solidFill>
          <a:ln w="12700">
            <a:solidFill>
              <a:srgbClr val="2BC4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640903" y="6666799"/>
            <a:ext cx="79370" cy="79370"/>
          </a:xfrm>
          <a:prstGeom prst="roundRect">
            <a:avLst/>
          </a:prstGeom>
          <a:solidFill>
            <a:srgbClr val="7BD83D"/>
          </a:solidFill>
          <a:ln w="12700">
            <a:solidFill>
              <a:srgbClr val="7BD8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68462" y="6550579"/>
            <a:ext cx="510235" cy="79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6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Dataging</a:t>
            </a:r>
            <a:endParaRPr lang="en-US" sz="546" dirty="0"/>
          </a:p>
        </p:txBody>
      </p:sp>
      <p:sp>
        <p:nvSpPr>
          <p:cNvPr id="11" name="Text 9"/>
          <p:cNvSpPr/>
          <p:nvPr/>
        </p:nvSpPr>
        <p:spPr>
          <a:xfrm>
            <a:off x="768462" y="6652626"/>
            <a:ext cx="737006" cy="68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9" dirty="0">
                <a:solidFill>
                  <a:srgbClr val="2B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Managing through data</a:t>
            </a:r>
            <a:endParaRPr lang="en-US" sz="279" dirty="0"/>
          </a:p>
        </p:txBody>
      </p:sp>
      <p:sp>
        <p:nvSpPr>
          <p:cNvPr id="12" name="Text 10"/>
          <p:cNvSpPr/>
          <p:nvPr/>
        </p:nvSpPr>
        <p:spPr>
          <a:xfrm>
            <a:off x="1572768" y="6565392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FA2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AI Chapter Coruña · FraSoHome · Microsoft Foundry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607040" y="654710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A2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20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915400" y="329184"/>
            <a:ext cx="2423160" cy="310896"/>
          </a:xfrm>
          <a:prstGeom prst="roundRect">
            <a:avLst/>
          </a:prstGeom>
          <a:solidFill>
            <a:srgbClr val="102341">
              <a:alpha val="85000"/>
            </a:srgbClr>
          </a:solidFill>
          <a:ln w="7620">
            <a:solidFill>
              <a:srgbClr val="2BD7FF">
                <a:alpha val="6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FD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AI Chapter Coruña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4360" y="402336"/>
            <a:ext cx="121615" cy="121615"/>
          </a:xfrm>
          <a:prstGeom prst="roundRect">
            <a:avLst/>
          </a:prstGeom>
          <a:solidFill>
            <a:srgbClr val="7BD83D"/>
          </a:solidFill>
          <a:ln w="12700">
            <a:solidFill>
              <a:srgbClr val="7BD8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763753" y="402336"/>
            <a:ext cx="121615" cy="121615"/>
          </a:xfrm>
          <a:prstGeom prst="roundRect">
            <a:avLst/>
          </a:prstGeom>
          <a:solidFill>
            <a:srgbClr val="2BC4C9"/>
          </a:solidFill>
          <a:ln w="12700">
            <a:solidFill>
              <a:srgbClr val="2BC4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594360" y="571729"/>
            <a:ext cx="121615" cy="121615"/>
          </a:xfrm>
          <a:prstGeom prst="roundRect">
            <a:avLst/>
          </a:prstGeom>
          <a:solidFill>
            <a:srgbClr val="2BC4C9"/>
          </a:solidFill>
          <a:ln w="12700">
            <a:solidFill>
              <a:srgbClr val="2BC4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763753" y="571729"/>
            <a:ext cx="121615" cy="121615"/>
          </a:xfrm>
          <a:prstGeom prst="roundRect">
            <a:avLst/>
          </a:prstGeom>
          <a:solidFill>
            <a:srgbClr val="7BD83D"/>
          </a:solidFill>
          <a:ln w="12700">
            <a:solidFill>
              <a:srgbClr val="7BD8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959206" y="393649"/>
            <a:ext cx="781812" cy="12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6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Dataging</a:t>
            </a:r>
            <a:endParaRPr lang="en-US" sz="836" dirty="0"/>
          </a:p>
        </p:txBody>
      </p:sp>
      <p:sp>
        <p:nvSpPr>
          <p:cNvPr id="20" name="Text 18"/>
          <p:cNvSpPr/>
          <p:nvPr/>
        </p:nvSpPr>
        <p:spPr>
          <a:xfrm>
            <a:off x="959206" y="550012"/>
            <a:ext cx="1129284" cy="104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7" dirty="0">
                <a:solidFill>
                  <a:srgbClr val="2B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Managing through data</a:t>
            </a:r>
            <a:endParaRPr lang="en-US" sz="427" dirty="0"/>
          </a:p>
        </p:txBody>
      </p:sp>
      <p:sp>
        <p:nvSpPr>
          <p:cNvPr id="21" name="Text 19"/>
          <p:cNvSpPr/>
          <p:nvPr/>
        </p:nvSpPr>
        <p:spPr>
          <a:xfrm>
            <a:off x="594360" y="1143000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3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Aterrizando los</a:t>
            </a:r>
            <a:endParaRPr lang="en-US" sz="4300" dirty="0"/>
          </a:p>
          <a:p>
            <a:pPr marL="0" indent="0">
              <a:buNone/>
            </a:pPr>
            <a:r>
              <a:rPr lang="en-US" sz="43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agentes en</a:t>
            </a:r>
            <a:endParaRPr lang="en-US" sz="4300" dirty="0"/>
          </a:p>
        </p:txBody>
      </p:sp>
      <p:sp>
        <p:nvSpPr>
          <p:cNvPr id="22" name="Text 20"/>
          <p:cNvSpPr/>
          <p:nvPr/>
        </p:nvSpPr>
        <p:spPr>
          <a:xfrm>
            <a:off x="594360" y="2578608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900" b="1" dirty="0">
                <a:solidFill>
                  <a:srgbClr val="2BD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Microsoft Foundry</a:t>
            </a:r>
            <a:endParaRPr lang="en-US" sz="3900" dirty="0"/>
          </a:p>
        </p:txBody>
      </p:sp>
      <p:sp>
        <p:nvSpPr>
          <p:cNvPr id="23" name="Shape 21"/>
          <p:cNvSpPr/>
          <p:nvPr/>
        </p:nvSpPr>
        <p:spPr>
          <a:xfrm>
            <a:off x="594360" y="3383280"/>
            <a:ext cx="2331720" cy="0"/>
          </a:xfrm>
          <a:prstGeom prst="line">
            <a:avLst/>
          </a:prstGeom>
          <a:noFill/>
          <a:ln w="38100">
            <a:solidFill>
              <a:srgbClr val="8C6B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594360" y="3703320"/>
            <a:ext cx="5394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la teoría al caso </a:t>
            </a:r>
            <a:r>
              <a:rPr lang="en-US" sz="1700" dirty="0" err="1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práctico</a:t>
            </a:r>
            <a:r>
              <a:rPr lang="en-US" sz="170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94360" y="41879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BFD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AI Chapter Coruña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909560" y="4480560"/>
            <a:ext cx="0" cy="0"/>
          </a:xfrm>
          <a:prstGeom prst="line">
            <a:avLst/>
          </a:prstGeom>
          <a:noFill/>
          <a:ln w="15240">
            <a:solidFill>
              <a:srgbClr val="8C6BFF">
                <a:alpha val="80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7726680" y="2697480"/>
            <a:ext cx="0" cy="0"/>
          </a:xfrm>
          <a:prstGeom prst="line">
            <a:avLst/>
          </a:prstGeom>
          <a:noFill/>
          <a:ln w="15240">
            <a:solidFill>
              <a:srgbClr val="2BD7FF">
                <a:alpha val="80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8001000" y="2788920"/>
            <a:ext cx="1508760" cy="932688"/>
          </a:xfrm>
          <a:prstGeom prst="hexagon">
            <a:avLst/>
          </a:prstGeom>
          <a:solidFill>
            <a:srgbClr val="4B45C9">
              <a:alpha val="98000"/>
            </a:srgbClr>
          </a:solidFill>
          <a:ln w="15240">
            <a:solidFill>
              <a:srgbClr val="2BD7FF">
                <a:alpha val="9000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Foundry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Service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229600" y="1234440"/>
            <a:ext cx="1417320" cy="658368"/>
          </a:xfrm>
          <a:prstGeom prst="roundRect">
            <a:avLst/>
          </a:prstGeom>
          <a:solidFill>
            <a:srgbClr val="152D52">
              <a:alpha val="95000"/>
            </a:srgbClr>
          </a:solidFill>
          <a:ln w="13970">
            <a:solidFill>
              <a:srgbClr val="2BD7FF">
                <a:alpha val="8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Conocimiento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446520" y="2267712"/>
            <a:ext cx="1417320" cy="658368"/>
          </a:xfrm>
          <a:prstGeom prst="roundRect">
            <a:avLst/>
          </a:prstGeom>
          <a:solidFill>
            <a:srgbClr val="152D52">
              <a:alpha val="95000"/>
            </a:srgbClr>
          </a:solidFill>
          <a:ln w="13970">
            <a:solidFill>
              <a:srgbClr val="61D59F">
                <a:alpha val="8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738360" y="2267712"/>
            <a:ext cx="1417320" cy="658368"/>
          </a:xfrm>
          <a:prstGeom prst="roundRect">
            <a:avLst/>
          </a:prstGeom>
          <a:solidFill>
            <a:srgbClr val="152D52">
              <a:alpha val="95000"/>
            </a:srgbClr>
          </a:solidFill>
          <a:ln w="13970">
            <a:solidFill>
              <a:srgbClr val="8C6BFF">
                <a:alpha val="8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Inventario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086600" y="4160520"/>
            <a:ext cx="1417320" cy="658368"/>
          </a:xfrm>
          <a:prstGeom prst="roundRect">
            <a:avLst/>
          </a:prstGeom>
          <a:solidFill>
            <a:srgbClr val="152D52">
              <a:alpha val="95000"/>
            </a:srgbClr>
          </a:solidFill>
          <a:ln w="13970">
            <a:solidFill>
              <a:srgbClr val="2BD7FF">
                <a:alpha val="8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235440" y="4370832"/>
            <a:ext cx="1417320" cy="658368"/>
          </a:xfrm>
          <a:prstGeom prst="roundRect">
            <a:avLst/>
          </a:prstGeom>
          <a:solidFill>
            <a:srgbClr val="152D52">
              <a:alpha val="95000"/>
            </a:srgbClr>
          </a:solidFill>
          <a:ln w="13970">
            <a:solidFill>
              <a:srgbClr val="8C6BFF">
                <a:alpha val="8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Devoluciones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903720" y="5504688"/>
            <a:ext cx="4297680" cy="457200"/>
          </a:xfrm>
          <a:prstGeom prst="roundRect">
            <a:avLst/>
          </a:prstGeom>
          <a:solidFill>
            <a:srgbClr val="102341">
              <a:alpha val="92000"/>
            </a:srgbClr>
          </a:solidFill>
          <a:ln w="13970">
            <a:solidFill>
              <a:srgbClr val="8C6BFF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· herramientas · flujos · observabilidad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6"/>
          </a:solidFill>
          <a:ln w="12700">
            <a:solidFill>
              <a:srgbClr val="0714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D7FF"/>
          </a:solidFill>
          <a:ln w="12700">
            <a:solidFill>
              <a:srgbClr val="2BD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8C6BFF"/>
          </a:solidFill>
          <a:ln w="12700">
            <a:solidFill>
              <a:srgbClr val="8C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2700">
            <a:solidFill>
              <a:srgbClr val="152D5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30352" y="6556248"/>
            <a:ext cx="79370" cy="79370"/>
          </a:xfrm>
          <a:prstGeom prst="roundRect">
            <a:avLst/>
          </a:prstGeom>
          <a:solidFill>
            <a:srgbClr val="7BD83D"/>
          </a:solidFill>
          <a:ln w="12700">
            <a:solidFill>
              <a:srgbClr val="7BD8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640903" y="6556248"/>
            <a:ext cx="79370" cy="79370"/>
          </a:xfrm>
          <a:prstGeom prst="roundRect">
            <a:avLst/>
          </a:prstGeom>
          <a:solidFill>
            <a:srgbClr val="2BC4C9"/>
          </a:solidFill>
          <a:ln w="12700">
            <a:solidFill>
              <a:srgbClr val="2BC4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30352" y="6666799"/>
            <a:ext cx="79370" cy="79370"/>
          </a:xfrm>
          <a:prstGeom prst="roundRect">
            <a:avLst/>
          </a:prstGeom>
          <a:solidFill>
            <a:srgbClr val="2BC4C9"/>
          </a:solidFill>
          <a:ln w="12700">
            <a:solidFill>
              <a:srgbClr val="2BC4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640903" y="6666799"/>
            <a:ext cx="79370" cy="79370"/>
          </a:xfrm>
          <a:prstGeom prst="roundRect">
            <a:avLst/>
          </a:prstGeom>
          <a:solidFill>
            <a:srgbClr val="7BD83D"/>
          </a:solidFill>
          <a:ln w="12700">
            <a:solidFill>
              <a:srgbClr val="7BD8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68462" y="6550579"/>
            <a:ext cx="510235" cy="79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6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Dataging</a:t>
            </a:r>
            <a:endParaRPr lang="en-US" sz="546" dirty="0"/>
          </a:p>
        </p:txBody>
      </p:sp>
      <p:sp>
        <p:nvSpPr>
          <p:cNvPr id="11" name="Text 9"/>
          <p:cNvSpPr/>
          <p:nvPr/>
        </p:nvSpPr>
        <p:spPr>
          <a:xfrm>
            <a:off x="768462" y="6652626"/>
            <a:ext cx="737006" cy="68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9" dirty="0">
                <a:solidFill>
                  <a:srgbClr val="2B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Managing through data</a:t>
            </a:r>
            <a:endParaRPr lang="en-US" sz="279" dirty="0"/>
          </a:p>
        </p:txBody>
      </p:sp>
      <p:sp>
        <p:nvSpPr>
          <p:cNvPr id="12" name="Text 10"/>
          <p:cNvSpPr/>
          <p:nvPr/>
        </p:nvSpPr>
        <p:spPr>
          <a:xfrm>
            <a:off x="1572768" y="6565392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FA2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AI Chapter Coruña · FraSoHome · Microsoft Foundry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607040" y="654710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A2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20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915400" y="329184"/>
            <a:ext cx="2423160" cy="310896"/>
          </a:xfrm>
          <a:prstGeom prst="roundRect">
            <a:avLst/>
          </a:prstGeom>
          <a:solidFill>
            <a:srgbClr val="102341">
              <a:alpha val="85000"/>
            </a:srgbClr>
          </a:solidFill>
          <a:ln w="7620">
            <a:solidFill>
              <a:srgbClr val="2BD7FF">
                <a:alpha val="6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FD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Ritmo de 60 minutos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66928" y="50292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Cómo vamos a usar la hora</a:t>
            </a:r>
            <a:endParaRPr lang="en-US" sz="2900" dirty="0"/>
          </a:p>
        </p:txBody>
      </p:sp>
      <p:sp>
        <p:nvSpPr>
          <p:cNvPr id="16" name="Text 14"/>
          <p:cNvSpPr/>
          <p:nvPr/>
        </p:nvSpPr>
        <p:spPr>
          <a:xfrm>
            <a:off x="566928" y="1024128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FD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sesión pensada para bajar de concepto a diseño y demo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14400" y="2834640"/>
            <a:ext cx="10287000" cy="0"/>
          </a:xfrm>
          <a:prstGeom prst="line">
            <a:avLst/>
          </a:prstGeom>
          <a:noFill/>
          <a:ln w="31750">
            <a:solidFill>
              <a:srgbClr val="2BD7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914400" y="2148840"/>
            <a:ext cx="502920" cy="502920"/>
          </a:xfrm>
          <a:prstGeom prst="ellipse">
            <a:avLst/>
          </a:prstGeom>
          <a:solidFill>
            <a:srgbClr val="2BD7FF"/>
          </a:solidFill>
          <a:ln w="12700">
            <a:solidFill>
              <a:srgbClr val="2BD7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36192" y="216712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Conceptos útiles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536192" y="24048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BFD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es un agente, cuándo conviene y qué no debe hacerse con agentes.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0" y="2148840"/>
            <a:ext cx="502920" cy="502920"/>
          </a:xfrm>
          <a:prstGeom prst="ellipse">
            <a:avLst/>
          </a:prstGeom>
          <a:solidFill>
            <a:srgbClr val="8C6BFF"/>
          </a:solidFill>
          <a:ln w="12700">
            <a:solidFill>
              <a:srgbClr val="8C6B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279392" y="2167128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Foundry como plataforma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279392" y="240487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BFD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Agentes, herramientas, workflows, observabilidad, seguridad y despliegue.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46520" y="2148840"/>
            <a:ext cx="502920" cy="502920"/>
          </a:xfrm>
          <a:prstGeom prst="ellipse">
            <a:avLst/>
          </a:prstGeom>
          <a:solidFill>
            <a:srgbClr val="61D59F"/>
          </a:solidFill>
          <a:ln w="12700">
            <a:solidFill>
              <a:srgbClr val="61D59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068312" y="2167128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FraSoHome aplicado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068312" y="240487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BFD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 multiagente sobre retail omnicanal: datos, devoluciones y cliente.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144000" y="2148840"/>
            <a:ext cx="502920" cy="502920"/>
          </a:xfrm>
          <a:prstGeom prst="ellipse">
            <a:avLst/>
          </a:prstGeom>
          <a:solidFill>
            <a:srgbClr val="FFC85A"/>
          </a:solidFill>
          <a:ln w="12700">
            <a:solidFill>
              <a:srgbClr val="FFC85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765792" y="216712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divulgativa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765792" y="24048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BFD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Historias, prompts, repositorio y ruta de construcción para el hackathon.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097280" y="4069080"/>
            <a:ext cx="3657600" cy="1325880"/>
          </a:xfrm>
          <a:prstGeom prst="roundRect">
            <a:avLst/>
          </a:prstGeom>
          <a:solidFill>
            <a:srgbClr val="152D52">
              <a:alpha val="92000"/>
            </a:srgbClr>
          </a:solidFill>
          <a:ln w="13970">
            <a:solidFill>
              <a:srgbClr val="2BD7FF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esperado</a:t>
            </a:r>
            <a:endParaRPr lang="en-US" sz="1450" dirty="0"/>
          </a:p>
          <a:p>
            <a:pPr marL="0" indent="0" algn="ctr">
              <a:buNone/>
            </a:pPr>
            <a:endParaRPr lang="en-US" sz="1450" dirty="0"/>
          </a:p>
          <a:p>
            <a:pPr marL="0" indent="0" algn="ctr">
              <a:buNone/>
            </a:pPr>
            <a:r>
              <a:rPr lang="en-US" sz="14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terminar, los participantes podrán explicar el patrón, diseñar un sistema multiagente sencillo y reconocer dónde encaja Foundry frente a código propio.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5074920" y="4069080"/>
            <a:ext cx="3657600" cy="1325880"/>
          </a:xfrm>
          <a:prstGeom prst="roundRect">
            <a:avLst/>
          </a:prstGeom>
          <a:solidFill>
            <a:srgbClr val="152D52">
              <a:alpha val="92000"/>
            </a:srgbClr>
          </a:solidFill>
          <a:ln w="13970">
            <a:solidFill>
              <a:srgbClr val="61D59F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Hilo conductor</a:t>
            </a:r>
            <a:endParaRPr lang="en-US" sz="1450" dirty="0"/>
          </a:p>
          <a:p>
            <a:pPr marL="0" indent="0" algn="ctr">
              <a:buNone/>
            </a:pPr>
            <a:endParaRPr lang="en-US" sz="1450" dirty="0"/>
          </a:p>
          <a:p>
            <a:pPr marL="0" indent="0" algn="ctr">
              <a:buNone/>
            </a:pPr>
            <a:r>
              <a:rPr lang="en-US" sz="14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FraSoHome: retailer de hogar con CRM, e-commerce, POS, ERP, devoluciones, stock y problemas reales de calidad de datos.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9052560" y="4069080"/>
            <a:ext cx="2697480" cy="1325880"/>
          </a:xfrm>
          <a:prstGeom prst="roundRect">
            <a:avLst/>
          </a:prstGeom>
          <a:solidFill>
            <a:srgbClr val="152D52">
              <a:alpha val="92000"/>
            </a:srgbClr>
          </a:solidFill>
          <a:ln w="13970">
            <a:solidFill>
              <a:srgbClr val="8C6BFF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Enfoque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Menos hype. Más decisiones: qué agente crear, qué herramienta conectar, cómo evaluar y cómo cerrar la demo.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6"/>
          </a:solidFill>
          <a:ln w="12700">
            <a:solidFill>
              <a:srgbClr val="0714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D7FF"/>
          </a:solidFill>
          <a:ln w="12700">
            <a:solidFill>
              <a:srgbClr val="2BD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8C6BFF"/>
          </a:solidFill>
          <a:ln w="12700">
            <a:solidFill>
              <a:srgbClr val="8C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2700">
            <a:solidFill>
              <a:srgbClr val="152D5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30352" y="6556248"/>
            <a:ext cx="79370" cy="79370"/>
          </a:xfrm>
          <a:prstGeom prst="roundRect">
            <a:avLst/>
          </a:prstGeom>
          <a:solidFill>
            <a:srgbClr val="7BD83D"/>
          </a:solidFill>
          <a:ln w="12700">
            <a:solidFill>
              <a:srgbClr val="7BD8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640903" y="6556248"/>
            <a:ext cx="79370" cy="79370"/>
          </a:xfrm>
          <a:prstGeom prst="roundRect">
            <a:avLst/>
          </a:prstGeom>
          <a:solidFill>
            <a:srgbClr val="2BC4C9"/>
          </a:solidFill>
          <a:ln w="12700">
            <a:solidFill>
              <a:srgbClr val="2BC4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30352" y="6666799"/>
            <a:ext cx="79370" cy="79370"/>
          </a:xfrm>
          <a:prstGeom prst="roundRect">
            <a:avLst/>
          </a:prstGeom>
          <a:solidFill>
            <a:srgbClr val="2BC4C9"/>
          </a:solidFill>
          <a:ln w="12700">
            <a:solidFill>
              <a:srgbClr val="2BC4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640903" y="6666799"/>
            <a:ext cx="79370" cy="79370"/>
          </a:xfrm>
          <a:prstGeom prst="roundRect">
            <a:avLst/>
          </a:prstGeom>
          <a:solidFill>
            <a:srgbClr val="7BD83D"/>
          </a:solidFill>
          <a:ln w="12700">
            <a:solidFill>
              <a:srgbClr val="7BD8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68462" y="6550579"/>
            <a:ext cx="510235" cy="79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6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Dataging</a:t>
            </a:r>
            <a:endParaRPr lang="en-US" sz="546" dirty="0"/>
          </a:p>
        </p:txBody>
      </p:sp>
      <p:sp>
        <p:nvSpPr>
          <p:cNvPr id="11" name="Text 9"/>
          <p:cNvSpPr/>
          <p:nvPr/>
        </p:nvSpPr>
        <p:spPr>
          <a:xfrm>
            <a:off x="768462" y="6652626"/>
            <a:ext cx="737006" cy="68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9" dirty="0">
                <a:solidFill>
                  <a:srgbClr val="2B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Managing through data</a:t>
            </a:r>
            <a:endParaRPr lang="en-US" sz="279" dirty="0"/>
          </a:p>
        </p:txBody>
      </p:sp>
      <p:sp>
        <p:nvSpPr>
          <p:cNvPr id="12" name="Text 10"/>
          <p:cNvSpPr/>
          <p:nvPr/>
        </p:nvSpPr>
        <p:spPr>
          <a:xfrm>
            <a:off x="1572768" y="6565392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FA2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AI Chapter Coruña · FraSoHome · Microsoft Foundry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607040" y="654710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A2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20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915400" y="329184"/>
            <a:ext cx="2423160" cy="310896"/>
          </a:xfrm>
          <a:prstGeom prst="roundRect">
            <a:avLst/>
          </a:prstGeom>
          <a:solidFill>
            <a:srgbClr val="102341">
              <a:alpha val="85000"/>
            </a:srgbClr>
          </a:solidFill>
          <a:ln w="7620">
            <a:solidFill>
              <a:srgbClr val="2BD7FF">
                <a:alpha val="6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FD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Conceptos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66928" y="50292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chatbot a sistema de agentes</a:t>
            </a:r>
            <a:endParaRPr lang="en-US" sz="2900" dirty="0"/>
          </a:p>
        </p:txBody>
      </p:sp>
      <p:sp>
        <p:nvSpPr>
          <p:cNvPr id="16" name="Text 14"/>
          <p:cNvSpPr/>
          <p:nvPr/>
        </p:nvSpPr>
        <p:spPr>
          <a:xfrm>
            <a:off x="566928" y="1024128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FD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salto no es “más prompt”: es conectar razonamiento, herramientas y proceso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77240" y="1691640"/>
            <a:ext cx="2788920" cy="3154680"/>
          </a:xfrm>
          <a:prstGeom prst="roundRect">
            <a:avLst/>
          </a:prstGeom>
          <a:solidFill>
            <a:srgbClr val="152D52">
              <a:alpha val="92000"/>
            </a:srgbClr>
          </a:solidFill>
          <a:ln w="13970">
            <a:solidFill>
              <a:srgbClr val="7FA2D6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l">
              <a:buNone/>
            </a:pPr>
            <a:r>
              <a:rPr lang="en-US" sz="143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Chatbot</a:t>
            </a:r>
            <a:endParaRPr lang="en-US" sz="1430" dirty="0"/>
          </a:p>
          <a:p>
            <a:pPr marL="0" indent="0" algn="l">
              <a:buNone/>
            </a:pPr>
            <a:endParaRPr lang="en-US" sz="1430" dirty="0"/>
          </a:p>
          <a:p>
            <a:pPr marL="0" indent="0" algn="l">
              <a:buNone/>
            </a:pPr>
            <a:r>
              <a:rPr lang="en-US" sz="143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Responde a una conversación</a:t>
            </a:r>
            <a:endParaRPr lang="en-US" sz="1430" dirty="0"/>
          </a:p>
          <a:p>
            <a:pPr marL="0" indent="0" algn="l">
              <a:buNone/>
            </a:pPr>
            <a:endParaRPr lang="en-US" sz="1430" dirty="0"/>
          </a:p>
          <a:p>
            <a:pPr marL="0" indent="0" algn="l">
              <a:buNone/>
            </a:pPr>
            <a:r>
              <a:rPr lang="en-US" sz="143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Contexto limitado</a:t>
            </a:r>
            <a:endParaRPr lang="en-US" sz="1430" dirty="0"/>
          </a:p>
          <a:p>
            <a:pPr marL="0" indent="0" algn="l">
              <a:buNone/>
            </a:pPr>
            <a:r>
              <a:rPr lang="en-US" sz="143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Sin acciones reales</a:t>
            </a:r>
            <a:endParaRPr lang="en-US" sz="1430" dirty="0"/>
          </a:p>
          <a:p>
            <a:pPr marL="0" indent="0" algn="l">
              <a:buNone/>
            </a:pPr>
            <a:r>
              <a:rPr lang="en-US" sz="143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Difícil de auditar si improvisa</a:t>
            </a:r>
            <a:endParaRPr lang="en-US" sz="1430" dirty="0"/>
          </a:p>
          <a:p>
            <a:pPr marL="0" indent="0" algn="l">
              <a:buNone/>
            </a:pPr>
            <a:r>
              <a:rPr lang="en-US" sz="143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Poco encaje en procesos repetibles</a:t>
            </a:r>
            <a:endParaRPr lang="en-US" sz="1430" dirty="0"/>
          </a:p>
        </p:txBody>
      </p:sp>
      <p:sp>
        <p:nvSpPr>
          <p:cNvPr id="18" name="Text 16"/>
          <p:cNvSpPr/>
          <p:nvPr/>
        </p:nvSpPr>
        <p:spPr>
          <a:xfrm>
            <a:off x="3968496" y="2331720"/>
            <a:ext cx="1489912" cy="658368"/>
          </a:xfrm>
          <a:prstGeom prst="chevron">
            <a:avLst/>
          </a:prstGeom>
          <a:solidFill>
            <a:srgbClr val="2BD7FF">
              <a:alpha val="95000"/>
            </a:srgbClr>
          </a:solidFill>
          <a:ln w="10160">
            <a:solidFill>
              <a:srgbClr val="2BD7FF">
                <a:alpha val="8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herramientas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3968496" y="3136392"/>
            <a:ext cx="1371600" cy="658368"/>
          </a:xfrm>
          <a:prstGeom prst="chevron">
            <a:avLst/>
          </a:prstGeom>
          <a:solidFill>
            <a:srgbClr val="8C6BFF">
              <a:alpha val="95000"/>
            </a:srgbClr>
          </a:solidFill>
          <a:ln w="10160">
            <a:solidFill>
              <a:srgbClr val="8C6BFF">
                <a:alpha val="8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3968496" y="3941064"/>
            <a:ext cx="1371600" cy="658368"/>
          </a:xfrm>
          <a:prstGeom prst="chevron">
            <a:avLst/>
          </a:prstGeom>
          <a:solidFill>
            <a:srgbClr val="61D59F">
              <a:alpha val="95000"/>
            </a:srgbClr>
          </a:solidFill>
          <a:ln w="10160">
            <a:solidFill>
              <a:srgbClr val="61D59F">
                <a:alpha val="8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5715000" y="1691640"/>
            <a:ext cx="2971800" cy="3154680"/>
          </a:xfrm>
          <a:prstGeom prst="roundRect">
            <a:avLst/>
          </a:prstGeom>
          <a:solidFill>
            <a:srgbClr val="152D52">
              <a:alpha val="92000"/>
            </a:srgbClr>
          </a:solidFill>
          <a:ln w="13970">
            <a:solidFill>
              <a:srgbClr val="2BD7FF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l">
              <a:buNone/>
            </a:pPr>
            <a:r>
              <a:rPr lang="en-US" sz="143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 de agentes</a:t>
            </a:r>
            <a:endParaRPr lang="en-US" sz="1430" dirty="0"/>
          </a:p>
          <a:p>
            <a:pPr marL="0" indent="0" algn="l">
              <a:buNone/>
            </a:pPr>
            <a:endParaRPr lang="en-US" sz="1430" dirty="0"/>
          </a:p>
          <a:p>
            <a:pPr marL="0" indent="0" algn="l">
              <a:buNone/>
            </a:pPr>
            <a:r>
              <a:rPr lang="en-US" sz="143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Orquesta tareas con responsabilidades claras</a:t>
            </a:r>
            <a:endParaRPr lang="en-US" sz="1430" dirty="0"/>
          </a:p>
          <a:p>
            <a:pPr marL="0" indent="0" algn="l">
              <a:buNone/>
            </a:pPr>
            <a:endParaRPr lang="en-US" sz="1430" dirty="0"/>
          </a:p>
          <a:p>
            <a:pPr marL="0" indent="0" algn="l">
              <a:buNone/>
            </a:pPr>
            <a:r>
              <a:rPr lang="en-US" sz="143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Consulta conocimiento</a:t>
            </a:r>
            <a:endParaRPr lang="en-US" sz="1430" dirty="0"/>
          </a:p>
          <a:p>
            <a:pPr marL="0" indent="0" algn="l">
              <a:buNone/>
            </a:pPr>
            <a:r>
              <a:rPr lang="en-US" sz="143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Ejecuta herramientas</a:t>
            </a:r>
            <a:endParaRPr lang="en-US" sz="1430" dirty="0"/>
          </a:p>
          <a:p>
            <a:pPr marL="0" indent="0" algn="l">
              <a:buNone/>
            </a:pPr>
            <a:r>
              <a:rPr lang="en-US" sz="143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Produce entregables</a:t>
            </a:r>
            <a:endParaRPr lang="en-US" sz="1430" dirty="0"/>
          </a:p>
          <a:p>
            <a:pPr marL="0" indent="0" algn="l">
              <a:buNone/>
            </a:pPr>
            <a:r>
              <a:rPr lang="en-US" sz="143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Deja trazas</a:t>
            </a:r>
            <a:endParaRPr lang="en-US" sz="1430" dirty="0"/>
          </a:p>
          <a:p>
            <a:pPr marL="0" indent="0" algn="l">
              <a:buNone/>
            </a:pPr>
            <a:r>
              <a:rPr lang="en-US" sz="143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Escala con workflows y código</a:t>
            </a:r>
            <a:endParaRPr lang="en-US" sz="1430" dirty="0"/>
          </a:p>
        </p:txBody>
      </p:sp>
      <p:sp>
        <p:nvSpPr>
          <p:cNvPr id="22" name="Text 20"/>
          <p:cNvSpPr/>
          <p:nvPr/>
        </p:nvSpPr>
        <p:spPr>
          <a:xfrm>
            <a:off x="9326880" y="2331720"/>
            <a:ext cx="2148840" cy="1691640"/>
          </a:xfrm>
          <a:prstGeom prst="roundRect">
            <a:avLst/>
          </a:prstGeom>
          <a:solidFill>
            <a:srgbClr val="4B45C9">
              <a:alpha val="92000"/>
            </a:srgbClr>
          </a:solidFill>
          <a:ln w="13970">
            <a:solidFill>
              <a:srgbClr val="8C6BFF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 de negocio</a:t>
            </a:r>
            <a:endParaRPr lang="en-US" sz="1500" dirty="0"/>
          </a:p>
          <a:p>
            <a:pPr marL="0" indent="0" algn="ctr">
              <a:buNone/>
            </a:pP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Respuesta + evidencia + acción recomendada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723376" y="3154680"/>
            <a:ext cx="557784" cy="0"/>
          </a:xfrm>
          <a:prstGeom prst="line">
            <a:avLst/>
          </a:prstGeom>
          <a:noFill/>
          <a:ln w="17780">
            <a:solidFill>
              <a:srgbClr val="8C6BFF">
                <a:alpha val="9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1554480" y="5532120"/>
            <a:ext cx="8869680" cy="457200"/>
          </a:xfrm>
          <a:prstGeom prst="roundRect">
            <a:avLst/>
          </a:prstGeom>
          <a:solidFill>
            <a:srgbClr val="102341">
              <a:alpha val="92000"/>
            </a:srgbClr>
          </a:solidFill>
          <a:ln w="13970">
            <a:solidFill>
              <a:srgbClr val="FFC85A">
                <a:alpha val="7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pregunta clave: ¿qué parte del proceso debe decidir un agente y qué parte debe estar gobernada por reglas?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6"/>
          </a:solidFill>
          <a:ln w="12700">
            <a:solidFill>
              <a:srgbClr val="0714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D7FF"/>
          </a:solidFill>
          <a:ln w="12700">
            <a:solidFill>
              <a:srgbClr val="2BD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8C6BFF"/>
          </a:solidFill>
          <a:ln w="12700">
            <a:solidFill>
              <a:srgbClr val="8C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2700">
            <a:solidFill>
              <a:srgbClr val="152D5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30352" y="6556248"/>
            <a:ext cx="79370" cy="79370"/>
          </a:xfrm>
          <a:prstGeom prst="roundRect">
            <a:avLst/>
          </a:prstGeom>
          <a:solidFill>
            <a:srgbClr val="7BD83D"/>
          </a:solidFill>
          <a:ln w="12700">
            <a:solidFill>
              <a:srgbClr val="7BD8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640903" y="6556248"/>
            <a:ext cx="79370" cy="79370"/>
          </a:xfrm>
          <a:prstGeom prst="roundRect">
            <a:avLst/>
          </a:prstGeom>
          <a:solidFill>
            <a:srgbClr val="2BC4C9"/>
          </a:solidFill>
          <a:ln w="12700">
            <a:solidFill>
              <a:srgbClr val="2BC4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30352" y="6666799"/>
            <a:ext cx="79370" cy="79370"/>
          </a:xfrm>
          <a:prstGeom prst="roundRect">
            <a:avLst/>
          </a:prstGeom>
          <a:solidFill>
            <a:srgbClr val="2BC4C9"/>
          </a:solidFill>
          <a:ln w="12700">
            <a:solidFill>
              <a:srgbClr val="2BC4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640903" y="6666799"/>
            <a:ext cx="79370" cy="79370"/>
          </a:xfrm>
          <a:prstGeom prst="roundRect">
            <a:avLst/>
          </a:prstGeom>
          <a:solidFill>
            <a:srgbClr val="7BD83D"/>
          </a:solidFill>
          <a:ln w="12700">
            <a:solidFill>
              <a:srgbClr val="7BD8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68462" y="6550579"/>
            <a:ext cx="510235" cy="79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6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Dataging</a:t>
            </a:r>
            <a:endParaRPr lang="en-US" sz="546" dirty="0"/>
          </a:p>
        </p:txBody>
      </p:sp>
      <p:sp>
        <p:nvSpPr>
          <p:cNvPr id="11" name="Text 9"/>
          <p:cNvSpPr/>
          <p:nvPr/>
        </p:nvSpPr>
        <p:spPr>
          <a:xfrm>
            <a:off x="768462" y="6652626"/>
            <a:ext cx="737006" cy="68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9" dirty="0">
                <a:solidFill>
                  <a:srgbClr val="2B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Managing through data</a:t>
            </a:r>
            <a:endParaRPr lang="en-US" sz="279" dirty="0"/>
          </a:p>
        </p:txBody>
      </p:sp>
      <p:sp>
        <p:nvSpPr>
          <p:cNvPr id="12" name="Text 10"/>
          <p:cNvSpPr/>
          <p:nvPr/>
        </p:nvSpPr>
        <p:spPr>
          <a:xfrm>
            <a:off x="1572768" y="6565392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FA2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AI Chapter Coruña · FraSoHome · Microsoft Foundry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607040" y="654710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A2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20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915400" y="329184"/>
            <a:ext cx="2423160" cy="310896"/>
          </a:xfrm>
          <a:prstGeom prst="roundRect">
            <a:avLst/>
          </a:prstGeom>
          <a:solidFill>
            <a:srgbClr val="102341">
              <a:alpha val="85000"/>
            </a:srgbClr>
          </a:solidFill>
          <a:ln w="7620">
            <a:solidFill>
              <a:srgbClr val="2BD7FF">
                <a:alpha val="6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FD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Conceptos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66928" y="50292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Anatomía de un agente útil</a:t>
            </a:r>
            <a:endParaRPr lang="en-US" sz="2900" dirty="0"/>
          </a:p>
        </p:txBody>
      </p:sp>
      <p:sp>
        <p:nvSpPr>
          <p:cNvPr id="16" name="Text 14"/>
          <p:cNvSpPr/>
          <p:nvPr/>
        </p:nvSpPr>
        <p:spPr>
          <a:xfrm>
            <a:off x="566928" y="1024128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FD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buen agente se diseña como una pieza de proceso, no como una caja mágica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72200" y="3063240"/>
            <a:ext cx="0" cy="0"/>
          </a:xfrm>
          <a:prstGeom prst="line">
            <a:avLst/>
          </a:prstGeom>
          <a:noFill/>
          <a:ln w="12700">
            <a:solidFill>
              <a:srgbClr val="2BD7FF">
                <a:alpha val="6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6172200" y="3063240"/>
            <a:ext cx="0" cy="0"/>
          </a:xfrm>
          <a:prstGeom prst="line">
            <a:avLst/>
          </a:prstGeom>
          <a:noFill/>
          <a:ln w="12700">
            <a:solidFill>
              <a:srgbClr val="8C6BFF">
                <a:alpha val="6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3413761" y="1915574"/>
            <a:ext cx="1839374" cy="845914"/>
          </a:xfrm>
          <a:prstGeom prst="line">
            <a:avLst/>
          </a:prstGeom>
          <a:noFill/>
          <a:ln w="12700">
            <a:solidFill>
              <a:srgbClr val="61D59F">
                <a:alpha val="6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6172200" y="3063240"/>
            <a:ext cx="3154680" cy="0"/>
          </a:xfrm>
          <a:prstGeom prst="line">
            <a:avLst/>
          </a:prstGeom>
          <a:noFill/>
          <a:ln w="12700">
            <a:solidFill>
              <a:srgbClr val="2BD7FF">
                <a:alpha val="6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6172200" y="3063240"/>
            <a:ext cx="3154680" cy="0"/>
          </a:xfrm>
          <a:prstGeom prst="line">
            <a:avLst/>
          </a:prstGeom>
          <a:noFill/>
          <a:ln w="12700">
            <a:solidFill>
              <a:srgbClr val="8C6BFF">
                <a:alpha val="6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6172200" y="3063240"/>
            <a:ext cx="3154680" cy="1371600"/>
          </a:xfrm>
          <a:prstGeom prst="line">
            <a:avLst/>
          </a:prstGeom>
          <a:noFill/>
          <a:ln w="12700">
            <a:solidFill>
              <a:srgbClr val="61D59F">
                <a:alpha val="6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5074920" y="2331720"/>
            <a:ext cx="2194560" cy="1417320"/>
          </a:xfrm>
          <a:prstGeom prst="hexagon">
            <a:avLst/>
          </a:prstGeom>
          <a:solidFill>
            <a:srgbClr val="4B45C9"/>
          </a:solidFill>
          <a:ln w="15240">
            <a:solidFill>
              <a:srgbClr val="2BD7FF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AGENTE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FraSoHome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051560" y="1481328"/>
            <a:ext cx="2286000" cy="777240"/>
          </a:xfrm>
          <a:prstGeom prst="roundRect">
            <a:avLst/>
          </a:prstGeom>
          <a:solidFill>
            <a:srgbClr val="152D52">
              <a:alpha val="92000"/>
            </a:srgbClr>
          </a:solidFill>
          <a:ln w="13970">
            <a:solidFill>
              <a:srgbClr val="2BD7FF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Instrucciones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Rol, límites y tono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051560" y="2670048"/>
            <a:ext cx="2286000" cy="777240"/>
          </a:xfrm>
          <a:prstGeom prst="roundRect">
            <a:avLst/>
          </a:prstGeom>
          <a:solidFill>
            <a:srgbClr val="152D52">
              <a:alpha val="92000"/>
            </a:srgbClr>
          </a:solidFill>
          <a:ln w="13970">
            <a:solidFill>
              <a:srgbClr val="8C6BFF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Conocimiento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Documentos y datos internos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051560" y="4014216"/>
            <a:ext cx="2286000" cy="777240"/>
          </a:xfrm>
          <a:prstGeom prst="roundRect">
            <a:avLst/>
          </a:prstGeom>
          <a:solidFill>
            <a:srgbClr val="152D52">
              <a:alpha val="92000"/>
            </a:srgbClr>
          </a:solidFill>
          <a:ln w="13970">
            <a:solidFill>
              <a:srgbClr val="61D59F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Herramientas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Búsqueda, código, APIs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778240" y="1481328"/>
            <a:ext cx="2286000" cy="777240"/>
          </a:xfrm>
          <a:prstGeom prst="roundRect">
            <a:avLst/>
          </a:prstGeom>
          <a:solidFill>
            <a:srgbClr val="152D52">
              <a:alpha val="92000"/>
            </a:srgbClr>
          </a:solidFill>
          <a:ln w="13970">
            <a:solidFill>
              <a:srgbClr val="2BD7FF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 y coste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778240" y="2670048"/>
            <a:ext cx="2286000" cy="777240"/>
          </a:xfrm>
          <a:prstGeom prst="roundRect">
            <a:avLst/>
          </a:prstGeom>
          <a:solidFill>
            <a:srgbClr val="152D52">
              <a:alpha val="92000"/>
            </a:srgbClr>
          </a:solidFill>
          <a:ln w="13970">
            <a:solidFill>
              <a:srgbClr val="8C6BFF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Memoria de ejecución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778240" y="4014216"/>
            <a:ext cx="2286000" cy="777240"/>
          </a:xfrm>
          <a:prstGeom prst="roundRect">
            <a:avLst/>
          </a:prstGeom>
          <a:solidFill>
            <a:srgbClr val="152D52">
              <a:alpha val="92000"/>
            </a:srgbClr>
          </a:solidFill>
          <a:ln w="13970">
            <a:solidFill>
              <a:srgbClr val="61D59F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 y evaluación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280160" y="5532120"/>
            <a:ext cx="9692640" cy="457200"/>
          </a:xfrm>
          <a:prstGeom prst="roundRect">
            <a:avLst/>
          </a:prstGeom>
          <a:solidFill>
            <a:srgbClr val="102341">
              <a:alpha val="92000"/>
            </a:srgbClr>
          </a:solidFill>
          <a:ln w="13970">
            <a:solidFill>
              <a:srgbClr val="2BD7FF">
                <a:alpha val="7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 mínimo: objetivo claro · entradas permitidas · herramientas · salida esperada · criterios de aceptación</a:t>
            </a:r>
            <a:endParaRPr lang="en-US" sz="1250" dirty="0"/>
          </a:p>
        </p:txBody>
      </p:sp>
      <p:sp>
        <p:nvSpPr>
          <p:cNvPr id="31" name="Shape 17">
            <a:extLst>
              <a:ext uri="{FF2B5EF4-FFF2-40B4-BE49-F238E27FC236}">
                <a16:creationId xmlns:a16="http://schemas.microsoft.com/office/drawing/2014/main" id="{F033F77A-FA0E-EF1E-4A16-A0A7452BD548}"/>
              </a:ext>
            </a:extLst>
          </p:cNvPr>
          <p:cNvSpPr/>
          <p:nvPr/>
        </p:nvSpPr>
        <p:spPr>
          <a:xfrm flipV="1">
            <a:off x="3337560" y="3063240"/>
            <a:ext cx="1707185" cy="0"/>
          </a:xfrm>
          <a:prstGeom prst="line">
            <a:avLst/>
          </a:prstGeom>
          <a:noFill/>
          <a:ln w="12700">
            <a:solidFill>
              <a:srgbClr val="61D59F">
                <a:alpha val="6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2" name="Shape 17">
            <a:extLst>
              <a:ext uri="{FF2B5EF4-FFF2-40B4-BE49-F238E27FC236}">
                <a16:creationId xmlns:a16="http://schemas.microsoft.com/office/drawing/2014/main" id="{6E5DB9BD-5DB6-0990-4FC4-77BE7B418625}"/>
              </a:ext>
            </a:extLst>
          </p:cNvPr>
          <p:cNvSpPr/>
          <p:nvPr/>
        </p:nvSpPr>
        <p:spPr>
          <a:xfrm flipV="1">
            <a:off x="3357772" y="3364992"/>
            <a:ext cx="1717148" cy="978405"/>
          </a:xfrm>
          <a:prstGeom prst="line">
            <a:avLst/>
          </a:prstGeom>
          <a:noFill/>
          <a:ln w="12700">
            <a:solidFill>
              <a:srgbClr val="61D59F">
                <a:alpha val="6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6"/>
          </a:solidFill>
          <a:ln w="12700">
            <a:solidFill>
              <a:srgbClr val="0714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D7FF"/>
          </a:solidFill>
          <a:ln w="12700">
            <a:solidFill>
              <a:srgbClr val="2BD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8C6BFF"/>
          </a:solidFill>
          <a:ln w="12700">
            <a:solidFill>
              <a:srgbClr val="8C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2700">
            <a:solidFill>
              <a:srgbClr val="152D5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30352" y="6556248"/>
            <a:ext cx="79370" cy="79370"/>
          </a:xfrm>
          <a:prstGeom prst="roundRect">
            <a:avLst/>
          </a:prstGeom>
          <a:solidFill>
            <a:srgbClr val="7BD83D"/>
          </a:solidFill>
          <a:ln w="12700">
            <a:solidFill>
              <a:srgbClr val="7BD8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640903" y="6556248"/>
            <a:ext cx="79370" cy="79370"/>
          </a:xfrm>
          <a:prstGeom prst="roundRect">
            <a:avLst/>
          </a:prstGeom>
          <a:solidFill>
            <a:srgbClr val="2BC4C9"/>
          </a:solidFill>
          <a:ln w="12700">
            <a:solidFill>
              <a:srgbClr val="2BC4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30352" y="6666799"/>
            <a:ext cx="79370" cy="79370"/>
          </a:xfrm>
          <a:prstGeom prst="roundRect">
            <a:avLst/>
          </a:prstGeom>
          <a:solidFill>
            <a:srgbClr val="2BC4C9"/>
          </a:solidFill>
          <a:ln w="12700">
            <a:solidFill>
              <a:srgbClr val="2BC4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640903" y="6666799"/>
            <a:ext cx="79370" cy="79370"/>
          </a:xfrm>
          <a:prstGeom prst="roundRect">
            <a:avLst/>
          </a:prstGeom>
          <a:solidFill>
            <a:srgbClr val="7BD83D"/>
          </a:solidFill>
          <a:ln w="12700">
            <a:solidFill>
              <a:srgbClr val="7BD8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68462" y="6550579"/>
            <a:ext cx="510235" cy="79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6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Dataging</a:t>
            </a:r>
            <a:endParaRPr lang="en-US" sz="546" dirty="0"/>
          </a:p>
        </p:txBody>
      </p:sp>
      <p:sp>
        <p:nvSpPr>
          <p:cNvPr id="11" name="Text 9"/>
          <p:cNvSpPr/>
          <p:nvPr/>
        </p:nvSpPr>
        <p:spPr>
          <a:xfrm>
            <a:off x="768462" y="6652626"/>
            <a:ext cx="737006" cy="68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9" dirty="0">
                <a:solidFill>
                  <a:srgbClr val="2B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Managing through data</a:t>
            </a:r>
            <a:endParaRPr lang="en-US" sz="279" dirty="0"/>
          </a:p>
        </p:txBody>
      </p:sp>
      <p:sp>
        <p:nvSpPr>
          <p:cNvPr id="12" name="Text 10"/>
          <p:cNvSpPr/>
          <p:nvPr/>
        </p:nvSpPr>
        <p:spPr>
          <a:xfrm>
            <a:off x="1572768" y="6565392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FA2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AI Chapter Coruña · FraSoHome · Microsoft Foundry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607040" y="654710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A2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20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915400" y="329184"/>
            <a:ext cx="2423160" cy="310896"/>
          </a:xfrm>
          <a:prstGeom prst="roundRect">
            <a:avLst/>
          </a:prstGeom>
          <a:solidFill>
            <a:srgbClr val="102341">
              <a:alpha val="85000"/>
            </a:srgbClr>
          </a:solidFill>
          <a:ln w="7620">
            <a:solidFill>
              <a:srgbClr val="2BD7FF">
                <a:alpha val="6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FD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Foundry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66928" y="50292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Microsoft Foundry como plataforma de agentes</a:t>
            </a:r>
            <a:endParaRPr lang="en-US" sz="2900" dirty="0"/>
          </a:p>
        </p:txBody>
      </p:sp>
      <p:sp>
        <p:nvSpPr>
          <p:cNvPr id="16" name="Text 14"/>
          <p:cNvSpPr/>
          <p:nvPr/>
        </p:nvSpPr>
        <p:spPr>
          <a:xfrm>
            <a:off x="566928" y="1024128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FD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Unifica construcción, despliegue y operación de soluciones agentic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51560" y="1417320"/>
            <a:ext cx="9875520" cy="530352"/>
          </a:xfrm>
          <a:prstGeom prst="roundRect">
            <a:avLst/>
          </a:prstGeom>
          <a:solidFill>
            <a:srgbClr val="152D52">
              <a:alpha val="92000"/>
            </a:srgbClr>
          </a:solidFill>
          <a:ln w="13970">
            <a:solidFill>
              <a:srgbClr val="2BD7FF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Experiencia de construcción</a:t>
            </a:r>
            <a:endParaRPr lang="en-US" sz="1280" dirty="0"/>
          </a:p>
          <a:p>
            <a:pPr marL="0" indent="0" algn="ctr">
              <a:buNone/>
            </a:pPr>
            <a:r>
              <a:rPr lang="en-US" sz="128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Portal · Playground · SDK · repositorio</a:t>
            </a:r>
            <a:endParaRPr lang="en-US" sz="1280" dirty="0"/>
          </a:p>
        </p:txBody>
      </p:sp>
      <p:sp>
        <p:nvSpPr>
          <p:cNvPr id="18" name="Text 16"/>
          <p:cNvSpPr/>
          <p:nvPr/>
        </p:nvSpPr>
        <p:spPr>
          <a:xfrm>
            <a:off x="1143000" y="2075688"/>
            <a:ext cx="9692640" cy="530352"/>
          </a:xfrm>
          <a:prstGeom prst="roundRect">
            <a:avLst/>
          </a:prstGeom>
          <a:solidFill>
            <a:srgbClr val="4B45C9">
              <a:alpha val="92000"/>
            </a:srgbClr>
          </a:solidFill>
          <a:ln w="13970">
            <a:solidFill>
              <a:srgbClr val="8C6BFF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Foundry Agent Service</a:t>
            </a:r>
            <a:endParaRPr lang="en-US" sz="1280" dirty="0"/>
          </a:p>
          <a:p>
            <a:pPr marL="0" indent="0" algn="ctr">
              <a:buNone/>
            </a:pPr>
            <a:r>
              <a:rPr lang="en-US" sz="128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agents · workflow agents · hosted agents</a:t>
            </a:r>
            <a:endParaRPr lang="en-US" sz="1280" dirty="0"/>
          </a:p>
        </p:txBody>
      </p:sp>
      <p:sp>
        <p:nvSpPr>
          <p:cNvPr id="19" name="Text 17"/>
          <p:cNvSpPr/>
          <p:nvPr/>
        </p:nvSpPr>
        <p:spPr>
          <a:xfrm>
            <a:off x="1234440" y="2734056"/>
            <a:ext cx="9509760" cy="530352"/>
          </a:xfrm>
          <a:prstGeom prst="roundRect">
            <a:avLst/>
          </a:prstGeom>
          <a:solidFill>
            <a:srgbClr val="152D52">
              <a:alpha val="92000"/>
            </a:srgbClr>
          </a:solidFill>
          <a:ln w="13970">
            <a:solidFill>
              <a:srgbClr val="61D59F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Herramientas y grounding</a:t>
            </a:r>
            <a:endParaRPr lang="en-US" sz="1280" dirty="0"/>
          </a:p>
          <a:p>
            <a:pPr marL="0" indent="0" algn="ctr">
              <a:buNone/>
            </a:pPr>
            <a:r>
              <a:rPr lang="en-US" sz="128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Search · Code Interpreter · web search · conectores · funciones</a:t>
            </a:r>
            <a:endParaRPr lang="en-US" sz="1280" dirty="0"/>
          </a:p>
        </p:txBody>
      </p:sp>
      <p:sp>
        <p:nvSpPr>
          <p:cNvPr id="20" name="Text 18"/>
          <p:cNvSpPr/>
          <p:nvPr/>
        </p:nvSpPr>
        <p:spPr>
          <a:xfrm>
            <a:off x="1325880" y="3392424"/>
            <a:ext cx="9326880" cy="530352"/>
          </a:xfrm>
          <a:prstGeom prst="roundRect">
            <a:avLst/>
          </a:prstGeom>
          <a:solidFill>
            <a:srgbClr val="152D52">
              <a:alpha val="92000"/>
            </a:srgbClr>
          </a:solidFill>
          <a:ln w="13970">
            <a:solidFill>
              <a:srgbClr val="FFC85A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y orquestación</a:t>
            </a:r>
            <a:endParaRPr lang="en-US" sz="1280" dirty="0"/>
          </a:p>
          <a:p>
            <a:pPr marL="0" indent="0" algn="ctr">
              <a:buNone/>
            </a:pPr>
            <a:r>
              <a:rPr lang="en-US" sz="128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Threads · estado · workflows · ejecución gestionada</a:t>
            </a:r>
            <a:endParaRPr lang="en-US" sz="1280" dirty="0"/>
          </a:p>
        </p:txBody>
      </p:sp>
      <p:sp>
        <p:nvSpPr>
          <p:cNvPr id="21" name="Text 19"/>
          <p:cNvSpPr/>
          <p:nvPr/>
        </p:nvSpPr>
        <p:spPr>
          <a:xfrm>
            <a:off x="1417320" y="4050792"/>
            <a:ext cx="9144000" cy="530352"/>
          </a:xfrm>
          <a:prstGeom prst="roundRect">
            <a:avLst/>
          </a:prstGeom>
          <a:solidFill>
            <a:srgbClr val="152D52">
              <a:alpha val="92000"/>
            </a:srgbClr>
          </a:solidFill>
          <a:ln w="13970">
            <a:solidFill>
              <a:srgbClr val="FF7676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Operación</a:t>
            </a:r>
            <a:endParaRPr lang="en-US" sz="1280" dirty="0"/>
          </a:p>
          <a:p>
            <a:pPr marL="0" indent="0" algn="ctr">
              <a:buNone/>
            </a:pPr>
            <a:r>
              <a:rPr lang="en-US" sz="128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Tracing · evaluación · coste · RBAC · cumplimiento</a:t>
            </a:r>
            <a:endParaRPr lang="en-US" sz="1280" dirty="0"/>
          </a:p>
        </p:txBody>
      </p:sp>
      <p:sp>
        <p:nvSpPr>
          <p:cNvPr id="22" name="Text 20"/>
          <p:cNvSpPr/>
          <p:nvPr/>
        </p:nvSpPr>
        <p:spPr>
          <a:xfrm>
            <a:off x="1508760" y="4709160"/>
            <a:ext cx="8961120" cy="530352"/>
          </a:xfrm>
          <a:prstGeom prst="roundRect">
            <a:avLst/>
          </a:prstGeom>
          <a:solidFill>
            <a:srgbClr val="152D52">
              <a:alpha val="92000"/>
            </a:srgbClr>
          </a:solidFill>
          <a:ln w="13970">
            <a:solidFill>
              <a:srgbClr val="7FA2D6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</a:t>
            </a:r>
            <a:endParaRPr lang="en-US" sz="1280" dirty="0"/>
          </a:p>
          <a:p>
            <a:pPr marL="0" indent="0" algn="ctr">
              <a:buNone/>
            </a:pPr>
            <a:r>
              <a:rPr lang="en-US" sz="128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Resource group · Foundry resource · project · storage/search si aplica</a:t>
            </a:r>
            <a:endParaRPr lang="en-US" sz="1280" dirty="0"/>
          </a:p>
        </p:txBody>
      </p:sp>
      <p:sp>
        <p:nvSpPr>
          <p:cNvPr id="23" name="Text 21"/>
          <p:cNvSpPr/>
          <p:nvPr/>
        </p:nvSpPr>
        <p:spPr>
          <a:xfrm rot="16200000">
            <a:off x="438912" y="2359152"/>
            <a:ext cx="3840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FA2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Plataforma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 rot="5400000">
            <a:off x="10972800" y="2176272"/>
            <a:ext cx="4389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FA2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idea a producción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371600" y="5715000"/>
            <a:ext cx="9144000" cy="457200"/>
          </a:xfrm>
          <a:prstGeom prst="roundRect">
            <a:avLst/>
          </a:prstGeom>
          <a:solidFill>
            <a:srgbClr val="102341">
              <a:alpha val="92000"/>
            </a:srgbClr>
          </a:solidFill>
          <a:ln w="13970">
            <a:solidFill>
              <a:srgbClr val="8C6BFF">
                <a:alpha val="7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Foundry aporta el “lugar común”: agentes, herramientas, seguridad, observabilidad y despliegue dentro de Azure.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6"/>
          </a:solidFill>
          <a:ln w="12700">
            <a:solidFill>
              <a:srgbClr val="0714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D7FF"/>
          </a:solidFill>
          <a:ln w="12700">
            <a:solidFill>
              <a:srgbClr val="2BD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8C6BFF"/>
          </a:solidFill>
          <a:ln w="12700">
            <a:solidFill>
              <a:srgbClr val="8C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2700">
            <a:solidFill>
              <a:srgbClr val="152D5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30352" y="6556248"/>
            <a:ext cx="79370" cy="79370"/>
          </a:xfrm>
          <a:prstGeom prst="roundRect">
            <a:avLst/>
          </a:prstGeom>
          <a:solidFill>
            <a:srgbClr val="7BD83D"/>
          </a:solidFill>
          <a:ln w="12700">
            <a:solidFill>
              <a:srgbClr val="7BD8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640903" y="6556248"/>
            <a:ext cx="79370" cy="79370"/>
          </a:xfrm>
          <a:prstGeom prst="roundRect">
            <a:avLst/>
          </a:prstGeom>
          <a:solidFill>
            <a:srgbClr val="2BC4C9"/>
          </a:solidFill>
          <a:ln w="12700">
            <a:solidFill>
              <a:srgbClr val="2BC4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30352" y="6666799"/>
            <a:ext cx="79370" cy="79370"/>
          </a:xfrm>
          <a:prstGeom prst="roundRect">
            <a:avLst/>
          </a:prstGeom>
          <a:solidFill>
            <a:srgbClr val="2BC4C9"/>
          </a:solidFill>
          <a:ln w="12700">
            <a:solidFill>
              <a:srgbClr val="2BC4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640903" y="6666799"/>
            <a:ext cx="79370" cy="79370"/>
          </a:xfrm>
          <a:prstGeom prst="roundRect">
            <a:avLst/>
          </a:prstGeom>
          <a:solidFill>
            <a:srgbClr val="7BD83D"/>
          </a:solidFill>
          <a:ln w="12700">
            <a:solidFill>
              <a:srgbClr val="7BD8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68462" y="6550579"/>
            <a:ext cx="510235" cy="79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6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Dataging</a:t>
            </a:r>
            <a:endParaRPr lang="en-US" sz="546" dirty="0"/>
          </a:p>
        </p:txBody>
      </p:sp>
      <p:sp>
        <p:nvSpPr>
          <p:cNvPr id="11" name="Text 9"/>
          <p:cNvSpPr/>
          <p:nvPr/>
        </p:nvSpPr>
        <p:spPr>
          <a:xfrm>
            <a:off x="768462" y="6652626"/>
            <a:ext cx="737006" cy="68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9" dirty="0">
                <a:solidFill>
                  <a:srgbClr val="2B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Managing through data</a:t>
            </a:r>
            <a:endParaRPr lang="en-US" sz="279" dirty="0"/>
          </a:p>
        </p:txBody>
      </p:sp>
      <p:sp>
        <p:nvSpPr>
          <p:cNvPr id="12" name="Text 10"/>
          <p:cNvSpPr/>
          <p:nvPr/>
        </p:nvSpPr>
        <p:spPr>
          <a:xfrm>
            <a:off x="1572768" y="6565392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FA2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AI Chapter Coruña · FraSoHome · Microsoft Foundry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607040" y="654710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A2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20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915400" y="329184"/>
            <a:ext cx="2423160" cy="310896"/>
          </a:xfrm>
          <a:prstGeom prst="roundRect">
            <a:avLst/>
          </a:prstGeom>
          <a:solidFill>
            <a:srgbClr val="102341">
              <a:alpha val="85000"/>
            </a:srgbClr>
          </a:solidFill>
          <a:ln w="7620">
            <a:solidFill>
              <a:srgbClr val="2BD7FF">
                <a:alpha val="6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FD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Decisión de arquitectura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66928" y="50292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¿Prompt agent, workflow o Agent Framework?</a:t>
            </a:r>
            <a:endParaRPr lang="en-US" sz="2900" dirty="0"/>
          </a:p>
        </p:txBody>
      </p:sp>
      <p:sp>
        <p:nvSpPr>
          <p:cNvPr id="16" name="Text 14"/>
          <p:cNvSpPr/>
          <p:nvPr/>
        </p:nvSpPr>
        <p:spPr>
          <a:xfrm>
            <a:off x="566928" y="1024128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FD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decisión depende del control que necesitas, no de lo “sofisticado” que suene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31520" y="1508760"/>
            <a:ext cx="3246120" cy="2971800"/>
          </a:xfrm>
          <a:prstGeom prst="roundRect">
            <a:avLst/>
          </a:prstGeom>
          <a:solidFill>
            <a:srgbClr val="152D52">
              <a:alpha val="92000"/>
            </a:srgbClr>
          </a:solidFill>
          <a:ln w="13970">
            <a:solidFill>
              <a:srgbClr val="2BD7FF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agent</a:t>
            </a:r>
            <a:endParaRPr lang="en-US" sz="1350" dirty="0"/>
          </a:p>
          <a:p>
            <a:pPr marL="0" indent="0" algn="l">
              <a:buNone/>
            </a:pP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para prototipos, asistentes internos y tareas de conversación con herramientas sencillas.</a:t>
            </a:r>
            <a:endParaRPr lang="en-US" sz="1350" dirty="0"/>
          </a:p>
          <a:p>
            <a:pPr marL="0" indent="0" algn="l">
              <a:buNone/>
            </a:pP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Bajo código · rápido · fácil de probar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251960" y="1508760"/>
            <a:ext cx="3246120" cy="2971800"/>
          </a:xfrm>
          <a:prstGeom prst="roundRect">
            <a:avLst/>
          </a:prstGeom>
          <a:solidFill>
            <a:srgbClr val="152D52">
              <a:alpha val="92000"/>
            </a:srgbClr>
          </a:solidFill>
          <a:ln w="13970">
            <a:solidFill>
              <a:srgbClr val="8C6BFF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agent</a:t>
            </a:r>
            <a:endParaRPr lang="en-US" sz="1350" dirty="0"/>
          </a:p>
          <a:p>
            <a:pPr marL="0" indent="0" algn="l">
              <a:buNone/>
            </a:pP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cuando hay pasos, variables, branching, aprobaciones o una ruta repetible.</a:t>
            </a:r>
            <a:endParaRPr lang="en-US" sz="1350" dirty="0"/>
          </a:p>
          <a:p>
            <a:pPr marL="0" indent="0" algn="l">
              <a:buNone/>
            </a:pP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Orquestación visual · control explícito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772400" y="1508760"/>
            <a:ext cx="3246120" cy="2971800"/>
          </a:xfrm>
          <a:prstGeom prst="roundRect">
            <a:avLst/>
          </a:prstGeom>
          <a:solidFill>
            <a:srgbClr val="152D52">
              <a:alpha val="92000"/>
            </a:srgbClr>
          </a:solidFill>
          <a:ln w="13970">
            <a:solidFill>
              <a:srgbClr val="61D59F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Framework</a:t>
            </a:r>
            <a:endParaRPr lang="en-US" sz="1350" dirty="0"/>
          </a:p>
          <a:p>
            <a:pPr marL="0" indent="0" algn="l">
              <a:buNone/>
            </a:pP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cuando necesitas lógica propia, estado, integración avanzada o ejecución multiagente en código.</a:t>
            </a:r>
            <a:endParaRPr lang="en-US" sz="1350" dirty="0"/>
          </a:p>
          <a:p>
            <a:pPr marL="0" indent="0" algn="l">
              <a:buNone/>
            </a:pP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Python/.NET · grafos · extensibilidad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68680" y="50749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A2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Menos control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784080" y="50749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FA2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control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103120" y="5193792"/>
            <a:ext cx="8046720" cy="0"/>
          </a:xfrm>
          <a:prstGeom prst="line">
            <a:avLst/>
          </a:prstGeom>
          <a:noFill/>
          <a:ln w="25400">
            <a:solidFill>
              <a:srgbClr val="2BD7FF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914400" y="5623560"/>
            <a:ext cx="1234440" cy="329184"/>
          </a:xfrm>
          <a:prstGeom prst="roundRect">
            <a:avLst/>
          </a:prstGeom>
          <a:solidFill>
            <a:srgbClr val="FFC85A">
              <a:alpha val="95000"/>
            </a:srgbClr>
          </a:solidFill>
          <a:ln w="10160">
            <a:solidFill>
              <a:srgbClr val="FFC85A">
                <a:alpha val="7000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práctica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331720" y="563270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puedes escribir la función de negocio de forma determinista, no la delegues al agente: úsala como herramienta.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6"/>
          </a:solidFill>
          <a:ln w="12700">
            <a:solidFill>
              <a:srgbClr val="0714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D7FF"/>
          </a:solidFill>
          <a:ln w="12700">
            <a:solidFill>
              <a:srgbClr val="2BD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8C6BFF"/>
          </a:solidFill>
          <a:ln w="12700">
            <a:solidFill>
              <a:srgbClr val="8C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2700">
            <a:solidFill>
              <a:srgbClr val="152D5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30352" y="6556248"/>
            <a:ext cx="79370" cy="79370"/>
          </a:xfrm>
          <a:prstGeom prst="roundRect">
            <a:avLst/>
          </a:prstGeom>
          <a:solidFill>
            <a:srgbClr val="7BD83D"/>
          </a:solidFill>
          <a:ln w="12700">
            <a:solidFill>
              <a:srgbClr val="7BD8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640903" y="6556248"/>
            <a:ext cx="79370" cy="79370"/>
          </a:xfrm>
          <a:prstGeom prst="roundRect">
            <a:avLst/>
          </a:prstGeom>
          <a:solidFill>
            <a:srgbClr val="2BC4C9"/>
          </a:solidFill>
          <a:ln w="12700">
            <a:solidFill>
              <a:srgbClr val="2BC4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30352" y="6666799"/>
            <a:ext cx="79370" cy="79370"/>
          </a:xfrm>
          <a:prstGeom prst="roundRect">
            <a:avLst/>
          </a:prstGeom>
          <a:solidFill>
            <a:srgbClr val="2BC4C9"/>
          </a:solidFill>
          <a:ln w="12700">
            <a:solidFill>
              <a:srgbClr val="2BC4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640903" y="6666799"/>
            <a:ext cx="79370" cy="79370"/>
          </a:xfrm>
          <a:prstGeom prst="roundRect">
            <a:avLst/>
          </a:prstGeom>
          <a:solidFill>
            <a:srgbClr val="7BD83D"/>
          </a:solidFill>
          <a:ln w="12700">
            <a:solidFill>
              <a:srgbClr val="7BD8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68462" y="6550579"/>
            <a:ext cx="510235" cy="79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6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Dataging</a:t>
            </a:r>
            <a:endParaRPr lang="en-US" sz="546" dirty="0"/>
          </a:p>
        </p:txBody>
      </p:sp>
      <p:sp>
        <p:nvSpPr>
          <p:cNvPr id="11" name="Text 9"/>
          <p:cNvSpPr/>
          <p:nvPr/>
        </p:nvSpPr>
        <p:spPr>
          <a:xfrm>
            <a:off x="768462" y="6652626"/>
            <a:ext cx="737006" cy="68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9" dirty="0">
                <a:solidFill>
                  <a:srgbClr val="2B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Managing through data</a:t>
            </a:r>
            <a:endParaRPr lang="en-US" sz="279" dirty="0"/>
          </a:p>
        </p:txBody>
      </p:sp>
      <p:sp>
        <p:nvSpPr>
          <p:cNvPr id="12" name="Text 10"/>
          <p:cNvSpPr/>
          <p:nvPr/>
        </p:nvSpPr>
        <p:spPr>
          <a:xfrm>
            <a:off x="1572768" y="6565392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FA2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AI Chapter Coruña · FraSoHome · Microsoft Foundry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607040" y="654710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A2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20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915400" y="329184"/>
            <a:ext cx="2423160" cy="310896"/>
          </a:xfrm>
          <a:prstGeom prst="roundRect">
            <a:avLst/>
          </a:prstGeom>
          <a:solidFill>
            <a:srgbClr val="102341">
              <a:alpha val="85000"/>
            </a:srgbClr>
          </a:solidFill>
          <a:ln w="7620">
            <a:solidFill>
              <a:srgbClr val="2BD7FF">
                <a:alpha val="6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FD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práctico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66928" y="50292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FraSoHome: el problema realista</a:t>
            </a:r>
            <a:endParaRPr lang="en-US" sz="2900" dirty="0"/>
          </a:p>
        </p:txBody>
      </p:sp>
      <p:sp>
        <p:nvSpPr>
          <p:cNvPr id="16" name="Text 14"/>
          <p:cNvSpPr/>
          <p:nvPr/>
        </p:nvSpPr>
        <p:spPr>
          <a:xfrm>
            <a:off x="566928" y="1024128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FD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Retail omnicanal de hogar y decoración con datos repartidos y decisiones poco fiables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" y="1828800"/>
            <a:ext cx="1078992" cy="493776"/>
          </a:xfrm>
          <a:prstGeom prst="roundRect">
            <a:avLst/>
          </a:prstGeom>
          <a:solidFill>
            <a:srgbClr val="152D52">
              <a:alpha val="90000"/>
            </a:srgbClr>
          </a:solidFill>
          <a:ln w="10160">
            <a:solidFill>
              <a:srgbClr val="2BD7FF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BFD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CRM</a:t>
            </a:r>
            <a:endParaRPr lang="en-US" sz="930" dirty="0"/>
          </a:p>
          <a:p>
            <a:pPr marL="0" indent="0" algn="ctr">
              <a:buNone/>
            </a:pPr>
            <a:r>
              <a:rPr lang="en-US" sz="930" dirty="0">
                <a:solidFill>
                  <a:srgbClr val="BFD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clientes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822960" y="2788920"/>
            <a:ext cx="1078992" cy="493776"/>
          </a:xfrm>
          <a:prstGeom prst="roundRect">
            <a:avLst/>
          </a:prstGeom>
          <a:solidFill>
            <a:srgbClr val="152D52">
              <a:alpha val="90000"/>
            </a:srgbClr>
          </a:solidFill>
          <a:ln w="10160">
            <a:solidFill>
              <a:srgbClr val="8C6BFF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BFD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</a:t>
            </a:r>
            <a:endParaRPr lang="en-US" sz="930" dirty="0"/>
          </a:p>
          <a:p>
            <a:pPr marL="0" indent="0" algn="ctr">
              <a:buNone/>
            </a:pPr>
            <a:r>
              <a:rPr lang="en-US" sz="930" dirty="0">
                <a:solidFill>
                  <a:srgbClr val="BFD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tienda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822960" y="3749040"/>
            <a:ext cx="1078992" cy="493776"/>
          </a:xfrm>
          <a:prstGeom prst="roundRect">
            <a:avLst/>
          </a:prstGeom>
          <a:solidFill>
            <a:srgbClr val="152D52">
              <a:alpha val="90000"/>
            </a:srgbClr>
          </a:solidFill>
          <a:ln w="10160">
            <a:solidFill>
              <a:srgbClr val="61D59F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BFD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E-commerce</a:t>
            </a:r>
            <a:endParaRPr lang="en-US" sz="930" dirty="0"/>
          </a:p>
          <a:p>
            <a:pPr marL="0" indent="0" algn="ctr">
              <a:buNone/>
            </a:pPr>
            <a:r>
              <a:rPr lang="en-US" sz="930" dirty="0">
                <a:solidFill>
                  <a:srgbClr val="BFD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pedidos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822960" y="4709160"/>
            <a:ext cx="1078992" cy="493776"/>
          </a:xfrm>
          <a:prstGeom prst="roundRect">
            <a:avLst/>
          </a:prstGeom>
          <a:solidFill>
            <a:srgbClr val="152D52">
              <a:alpha val="90000"/>
            </a:srgbClr>
          </a:solidFill>
          <a:ln w="10160">
            <a:solidFill>
              <a:srgbClr val="FFC85A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BFD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</a:t>
            </a:r>
            <a:endParaRPr lang="en-US" sz="930" dirty="0"/>
          </a:p>
          <a:p>
            <a:pPr marL="0" indent="0" algn="ctr">
              <a:buNone/>
            </a:pPr>
            <a:r>
              <a:rPr lang="en-US" sz="930" dirty="0">
                <a:solidFill>
                  <a:srgbClr val="BFD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stock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1874520" y="2075688"/>
            <a:ext cx="1554480" cy="1170432"/>
          </a:xfrm>
          <a:prstGeom prst="line">
            <a:avLst/>
          </a:prstGeom>
          <a:noFill/>
          <a:ln w="15240">
            <a:solidFill>
              <a:srgbClr val="2BD7FF">
                <a:alpha val="80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1874520" y="3035808"/>
            <a:ext cx="1554480" cy="301752"/>
          </a:xfrm>
          <a:prstGeom prst="line">
            <a:avLst/>
          </a:prstGeom>
          <a:noFill/>
          <a:ln w="15240">
            <a:solidFill>
              <a:srgbClr val="8C6BFF">
                <a:alpha val="80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1874520" y="3995928"/>
            <a:ext cx="1554480" cy="0"/>
          </a:xfrm>
          <a:prstGeom prst="line">
            <a:avLst/>
          </a:prstGeom>
          <a:noFill/>
          <a:ln w="15240">
            <a:solidFill>
              <a:srgbClr val="61D59F">
                <a:alpha val="80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 flipV="1">
            <a:off x="1965960" y="4398264"/>
            <a:ext cx="1499616" cy="557784"/>
          </a:xfrm>
          <a:prstGeom prst="line">
            <a:avLst/>
          </a:prstGeom>
          <a:noFill/>
          <a:ln w="15240">
            <a:solidFill>
              <a:srgbClr val="FFC85A">
                <a:alpha val="80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3520440" y="1965960"/>
            <a:ext cx="3154680" cy="2651760"/>
          </a:xfrm>
          <a:prstGeom prst="roundRect">
            <a:avLst/>
          </a:prstGeom>
          <a:solidFill>
            <a:srgbClr val="152D52">
              <a:alpha val="92000"/>
            </a:srgbClr>
          </a:solidFill>
          <a:ln w="13970">
            <a:solidFill>
              <a:srgbClr val="FF7676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Dolores de datos</a:t>
            </a:r>
            <a:endParaRPr lang="en-US" sz="1340" dirty="0"/>
          </a:p>
          <a:p>
            <a:pPr marL="0" indent="0" algn="l">
              <a:buNone/>
            </a:pPr>
            <a:endParaRPr lang="en-US" sz="1340" dirty="0"/>
          </a:p>
          <a:p>
            <a:pPr marL="0" indent="0" algn="l">
              <a:buNone/>
            </a:pPr>
            <a:r>
              <a:rPr lang="en-US" sz="134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Nulos y duplicados</a:t>
            </a:r>
            <a:endParaRPr lang="en-US" sz="1340" dirty="0"/>
          </a:p>
          <a:p>
            <a:pPr marL="0" indent="0" algn="l">
              <a:buNone/>
            </a:pPr>
            <a:r>
              <a:rPr lang="en-US" sz="134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Fechas y claves inconsistentes</a:t>
            </a:r>
            <a:endParaRPr lang="en-US" sz="1340" dirty="0"/>
          </a:p>
          <a:p>
            <a:pPr marL="0" indent="0" algn="l">
              <a:buNone/>
            </a:pPr>
            <a:r>
              <a:rPr lang="en-US" sz="134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Productos sin mapeo</a:t>
            </a:r>
            <a:endParaRPr lang="en-US" sz="1340" dirty="0"/>
          </a:p>
          <a:p>
            <a:pPr marL="0" indent="0" algn="l">
              <a:buNone/>
            </a:pPr>
            <a:r>
              <a:rPr lang="en-US" sz="134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Devoluciones cruzadas entre canales</a:t>
            </a:r>
            <a:endParaRPr lang="en-US" sz="1340" dirty="0"/>
          </a:p>
          <a:p>
            <a:pPr marL="0" indent="0" algn="l">
              <a:buNone/>
            </a:pPr>
            <a:r>
              <a:rPr lang="en-US" sz="134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Stock negativo o fuera de rango</a:t>
            </a:r>
            <a:endParaRPr lang="en-US" sz="1340" dirty="0"/>
          </a:p>
        </p:txBody>
      </p:sp>
      <p:sp>
        <p:nvSpPr>
          <p:cNvPr id="26" name="Shape 24"/>
          <p:cNvSpPr/>
          <p:nvPr/>
        </p:nvSpPr>
        <p:spPr>
          <a:xfrm>
            <a:off x="6729984" y="3291840"/>
            <a:ext cx="905256" cy="0"/>
          </a:xfrm>
          <a:prstGeom prst="line">
            <a:avLst/>
          </a:prstGeom>
          <a:noFill/>
          <a:ln w="15240">
            <a:solidFill>
              <a:srgbClr val="2BD7FF">
                <a:alpha val="9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7726680" y="1965960"/>
            <a:ext cx="3429000" cy="2651760"/>
          </a:xfrm>
          <a:prstGeom prst="roundRect">
            <a:avLst/>
          </a:prstGeom>
          <a:solidFill>
            <a:srgbClr val="4B45C9">
              <a:alpha val="92000"/>
            </a:srgbClr>
          </a:solidFill>
          <a:ln w="13970">
            <a:solidFill>
              <a:srgbClr val="2BD7FF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l">
              <a:buNone/>
            </a:pPr>
            <a:r>
              <a:rPr lang="en-US" sz="139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 de negocio</a:t>
            </a:r>
            <a:endParaRPr lang="en-US" sz="1390" dirty="0"/>
          </a:p>
          <a:p>
            <a:pPr marL="0" indent="0" algn="l">
              <a:buNone/>
            </a:pPr>
            <a:endParaRPr lang="en-US" sz="1390" dirty="0"/>
          </a:p>
          <a:p>
            <a:pPr marL="0" indent="0" algn="l">
              <a:buNone/>
            </a:pPr>
            <a:r>
              <a:rPr lang="en-US" sz="139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Crear una vista única y fiable para responder:</a:t>
            </a:r>
            <a:endParaRPr lang="en-US" sz="1390" dirty="0"/>
          </a:p>
          <a:p>
            <a:pPr marL="0" indent="0" algn="l">
              <a:buNone/>
            </a:pPr>
            <a:endParaRPr lang="en-US" sz="1390" dirty="0"/>
          </a:p>
          <a:p>
            <a:pPr marL="0" indent="0" algn="l">
              <a:buNone/>
            </a:pPr>
            <a:r>
              <a:rPr lang="en-US" sz="139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vendemos?</a:t>
            </a:r>
            <a:endParaRPr lang="en-US" sz="1390" dirty="0"/>
          </a:p>
          <a:p>
            <a:pPr marL="0" indent="0" algn="l">
              <a:buNone/>
            </a:pPr>
            <a:r>
              <a:rPr lang="en-US" sz="139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¿A quién?</a:t>
            </a:r>
            <a:endParaRPr lang="en-US" sz="1390" dirty="0"/>
          </a:p>
          <a:p>
            <a:pPr marL="0" indent="0" algn="l">
              <a:buNone/>
            </a:pPr>
            <a:r>
              <a:rPr lang="en-US" sz="139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¿En qué canal?</a:t>
            </a:r>
            <a:endParaRPr lang="en-US" sz="1390" dirty="0"/>
          </a:p>
          <a:p>
            <a:pPr marL="0" indent="0" algn="l">
              <a:buNone/>
            </a:pPr>
            <a:r>
              <a:rPr lang="en-US" sz="139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¿Con qué margen y devolución?</a:t>
            </a:r>
            <a:endParaRPr lang="en-US" sz="1390" dirty="0"/>
          </a:p>
        </p:txBody>
      </p:sp>
      <p:sp>
        <p:nvSpPr>
          <p:cNvPr id="28" name="Text 26"/>
          <p:cNvSpPr/>
          <p:nvPr/>
        </p:nvSpPr>
        <p:spPr>
          <a:xfrm>
            <a:off x="1417320" y="5577840"/>
            <a:ext cx="9326880" cy="457200"/>
          </a:xfrm>
          <a:prstGeom prst="roundRect">
            <a:avLst/>
          </a:prstGeom>
          <a:solidFill>
            <a:srgbClr val="102341">
              <a:alpha val="92000"/>
            </a:srgbClr>
          </a:solidFill>
          <a:ln w="13970">
            <a:solidFill>
              <a:srgbClr val="61D59F">
                <a:alpha val="7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valor de los agentes aparece cuando conectamos conocimiento, datos y acción sobre un proceso concreto.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6"/>
          </a:solidFill>
          <a:ln w="12700">
            <a:solidFill>
              <a:srgbClr val="0714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D7FF"/>
          </a:solidFill>
          <a:ln w="12700">
            <a:solidFill>
              <a:srgbClr val="2BD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8C6BFF"/>
          </a:solidFill>
          <a:ln w="12700">
            <a:solidFill>
              <a:srgbClr val="8C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2700">
            <a:solidFill>
              <a:srgbClr val="152D5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30352" y="6556248"/>
            <a:ext cx="79370" cy="79370"/>
          </a:xfrm>
          <a:prstGeom prst="roundRect">
            <a:avLst/>
          </a:prstGeom>
          <a:solidFill>
            <a:srgbClr val="7BD83D"/>
          </a:solidFill>
          <a:ln w="12700">
            <a:solidFill>
              <a:srgbClr val="7BD8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640903" y="6556248"/>
            <a:ext cx="79370" cy="79370"/>
          </a:xfrm>
          <a:prstGeom prst="roundRect">
            <a:avLst/>
          </a:prstGeom>
          <a:solidFill>
            <a:srgbClr val="2BC4C9"/>
          </a:solidFill>
          <a:ln w="12700">
            <a:solidFill>
              <a:srgbClr val="2BC4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30352" y="6666799"/>
            <a:ext cx="79370" cy="79370"/>
          </a:xfrm>
          <a:prstGeom prst="roundRect">
            <a:avLst/>
          </a:prstGeom>
          <a:solidFill>
            <a:srgbClr val="2BC4C9"/>
          </a:solidFill>
          <a:ln w="12700">
            <a:solidFill>
              <a:srgbClr val="2BC4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640903" y="6666799"/>
            <a:ext cx="79370" cy="79370"/>
          </a:xfrm>
          <a:prstGeom prst="roundRect">
            <a:avLst/>
          </a:prstGeom>
          <a:solidFill>
            <a:srgbClr val="7BD83D"/>
          </a:solidFill>
          <a:ln w="12700">
            <a:solidFill>
              <a:srgbClr val="7BD8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68462" y="6550579"/>
            <a:ext cx="510235" cy="79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6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Dataging</a:t>
            </a:r>
            <a:endParaRPr lang="en-US" sz="546" dirty="0"/>
          </a:p>
        </p:txBody>
      </p:sp>
      <p:sp>
        <p:nvSpPr>
          <p:cNvPr id="11" name="Text 9"/>
          <p:cNvSpPr/>
          <p:nvPr/>
        </p:nvSpPr>
        <p:spPr>
          <a:xfrm>
            <a:off x="768462" y="6652626"/>
            <a:ext cx="737006" cy="68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9" dirty="0">
                <a:solidFill>
                  <a:srgbClr val="2B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Managing through data</a:t>
            </a:r>
            <a:endParaRPr lang="en-US" sz="279" dirty="0"/>
          </a:p>
        </p:txBody>
      </p:sp>
      <p:sp>
        <p:nvSpPr>
          <p:cNvPr id="12" name="Text 10"/>
          <p:cNvSpPr/>
          <p:nvPr/>
        </p:nvSpPr>
        <p:spPr>
          <a:xfrm>
            <a:off x="1572768" y="6565392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FA2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AI Chapter Coruña · FraSoHome · Microsoft Foundry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607040" y="654710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A2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20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915400" y="329184"/>
            <a:ext cx="2423160" cy="310896"/>
          </a:xfrm>
          <a:prstGeom prst="roundRect">
            <a:avLst/>
          </a:prstGeom>
          <a:solidFill>
            <a:srgbClr val="102341">
              <a:alpha val="85000"/>
            </a:srgbClr>
          </a:solidFill>
          <a:ln w="7620">
            <a:solidFill>
              <a:srgbClr val="2BD7FF">
                <a:alpha val="6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FD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Arquitectura objetivo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66928" y="50292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Sistema multiagente para FraSoHome</a:t>
            </a:r>
            <a:endParaRPr lang="en-US" sz="2900" dirty="0"/>
          </a:p>
        </p:txBody>
      </p:sp>
      <p:sp>
        <p:nvSpPr>
          <p:cNvPr id="16" name="Text 14"/>
          <p:cNvSpPr/>
          <p:nvPr/>
        </p:nvSpPr>
        <p:spPr>
          <a:xfrm>
            <a:off x="566928" y="1024128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FD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Especialistas coordinados por un orquestador, con datos y herramientas explícitos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85800" y="1417320"/>
            <a:ext cx="1078992" cy="493776"/>
          </a:xfrm>
          <a:prstGeom prst="roundRect">
            <a:avLst/>
          </a:prstGeom>
          <a:solidFill>
            <a:srgbClr val="152D52">
              <a:alpha val="90000"/>
            </a:srgbClr>
          </a:solidFill>
          <a:ln w="10160">
            <a:solidFill>
              <a:srgbClr val="2BD7FF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BFD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Documentos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685800" y="2148840"/>
            <a:ext cx="1078992" cy="493776"/>
          </a:xfrm>
          <a:prstGeom prst="roundRect">
            <a:avLst/>
          </a:prstGeom>
          <a:solidFill>
            <a:srgbClr val="152D52">
              <a:alpha val="90000"/>
            </a:srgbClr>
          </a:solidFill>
          <a:ln w="10160">
            <a:solidFill>
              <a:srgbClr val="61D59F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BFD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CSVs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685800" y="2880360"/>
            <a:ext cx="1078992" cy="493776"/>
          </a:xfrm>
          <a:prstGeom prst="roundRect">
            <a:avLst/>
          </a:prstGeom>
          <a:solidFill>
            <a:srgbClr val="152D52">
              <a:alpha val="90000"/>
            </a:srgbClr>
          </a:solidFill>
          <a:ln w="10160">
            <a:solidFill>
              <a:srgbClr val="FFC85A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BFD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Catálogo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685800" y="3611880"/>
            <a:ext cx="1078992" cy="493776"/>
          </a:xfrm>
          <a:prstGeom prst="roundRect">
            <a:avLst/>
          </a:prstGeom>
          <a:solidFill>
            <a:srgbClr val="152D52">
              <a:alpha val="90000"/>
            </a:srgbClr>
          </a:solidFill>
          <a:ln w="10160">
            <a:solidFill>
              <a:srgbClr val="8C6BFF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BFD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Stock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685800" y="4343400"/>
            <a:ext cx="1078992" cy="493776"/>
          </a:xfrm>
          <a:prstGeom prst="roundRect">
            <a:avLst/>
          </a:prstGeom>
          <a:solidFill>
            <a:srgbClr val="152D52">
              <a:alpha val="90000"/>
            </a:srgbClr>
          </a:solidFill>
          <a:ln w="10160">
            <a:solidFill>
              <a:srgbClr val="2BD7FF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BFD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CRM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1783080" y="1664208"/>
            <a:ext cx="1143000" cy="667512"/>
          </a:xfrm>
          <a:prstGeom prst="line">
            <a:avLst/>
          </a:prstGeom>
          <a:noFill/>
          <a:ln w="11430">
            <a:solidFill>
              <a:srgbClr val="2BD7FF">
                <a:alpha val="70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1783080" y="2395728"/>
            <a:ext cx="1143000" cy="393192"/>
          </a:xfrm>
          <a:prstGeom prst="line">
            <a:avLst/>
          </a:prstGeom>
          <a:noFill/>
          <a:ln w="11430">
            <a:solidFill>
              <a:srgbClr val="61D59F">
                <a:alpha val="70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1783080" y="3127248"/>
            <a:ext cx="1143000" cy="0"/>
          </a:xfrm>
          <a:prstGeom prst="line">
            <a:avLst/>
          </a:prstGeom>
          <a:noFill/>
          <a:ln w="11430">
            <a:solidFill>
              <a:srgbClr val="FFC85A">
                <a:alpha val="70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1783080" y="3858768"/>
            <a:ext cx="1143000" cy="0"/>
          </a:xfrm>
          <a:prstGeom prst="line">
            <a:avLst/>
          </a:prstGeom>
          <a:noFill/>
          <a:ln w="11430">
            <a:solidFill>
              <a:srgbClr val="8C6BFF">
                <a:alpha val="70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1783080" y="4590288"/>
            <a:ext cx="1143000" cy="0"/>
          </a:xfrm>
          <a:prstGeom prst="line">
            <a:avLst/>
          </a:prstGeom>
          <a:noFill/>
          <a:ln w="11430">
            <a:solidFill>
              <a:srgbClr val="2BD7FF">
                <a:alpha val="70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6080760" y="3154680"/>
            <a:ext cx="0" cy="0"/>
          </a:xfrm>
          <a:prstGeom prst="line">
            <a:avLst/>
          </a:prstGeom>
          <a:noFill/>
          <a:ln w="12700">
            <a:solidFill>
              <a:srgbClr val="2BD7FF">
                <a:alpha val="6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26"/>
          <p:cNvSpPr/>
          <p:nvPr/>
        </p:nvSpPr>
        <p:spPr>
          <a:xfrm>
            <a:off x="6080760" y="3154680"/>
            <a:ext cx="0" cy="0"/>
          </a:xfrm>
          <a:prstGeom prst="line">
            <a:avLst/>
          </a:prstGeom>
          <a:noFill/>
          <a:ln w="12700">
            <a:solidFill>
              <a:srgbClr val="61D59F">
                <a:alpha val="6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 flipV="1">
            <a:off x="6080760" y="1837944"/>
            <a:ext cx="1371600" cy="1316736"/>
          </a:xfrm>
          <a:prstGeom prst="line">
            <a:avLst/>
          </a:prstGeom>
          <a:noFill/>
          <a:ln w="12700">
            <a:solidFill>
              <a:srgbClr val="8C6BFF">
                <a:alpha val="6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6080760" y="3154680"/>
            <a:ext cx="2286000" cy="0"/>
          </a:xfrm>
          <a:prstGeom prst="line">
            <a:avLst/>
          </a:prstGeom>
          <a:noFill/>
          <a:ln w="12700">
            <a:solidFill>
              <a:srgbClr val="2BD7FF">
                <a:alpha val="6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1" name="Shape 29"/>
          <p:cNvSpPr/>
          <p:nvPr/>
        </p:nvSpPr>
        <p:spPr>
          <a:xfrm>
            <a:off x="6080760" y="3154680"/>
            <a:ext cx="2286000" cy="0"/>
          </a:xfrm>
          <a:prstGeom prst="line">
            <a:avLst/>
          </a:prstGeom>
          <a:noFill/>
          <a:ln w="12700">
            <a:solidFill>
              <a:srgbClr val="61D59F">
                <a:alpha val="6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6080760" y="3154680"/>
            <a:ext cx="2286000" cy="1508760"/>
          </a:xfrm>
          <a:prstGeom prst="line">
            <a:avLst/>
          </a:prstGeom>
          <a:noFill/>
          <a:ln w="12700">
            <a:solidFill>
              <a:srgbClr val="8C6BFF">
                <a:alpha val="6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3" name="Shape 31"/>
          <p:cNvSpPr/>
          <p:nvPr/>
        </p:nvSpPr>
        <p:spPr>
          <a:xfrm>
            <a:off x="9692640" y="2011680"/>
            <a:ext cx="868680" cy="0"/>
          </a:xfrm>
          <a:prstGeom prst="line">
            <a:avLst/>
          </a:prstGeom>
          <a:noFill/>
          <a:ln w="12700">
            <a:solidFill>
              <a:srgbClr val="2BD7FF">
                <a:alpha val="70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9692640" y="3200400"/>
            <a:ext cx="868680" cy="0"/>
          </a:xfrm>
          <a:prstGeom prst="line">
            <a:avLst/>
          </a:prstGeom>
          <a:noFill/>
          <a:ln w="12700">
            <a:solidFill>
              <a:srgbClr val="61D59F">
                <a:alpha val="70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>
            <a:off x="9692640" y="4389120"/>
            <a:ext cx="868680" cy="0"/>
          </a:xfrm>
          <a:prstGeom prst="line">
            <a:avLst/>
          </a:prstGeom>
          <a:noFill/>
          <a:ln w="12700">
            <a:solidFill>
              <a:srgbClr val="8C6BFF">
                <a:alpha val="70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4846320" y="2514600"/>
            <a:ext cx="2103120" cy="1234440"/>
          </a:xfrm>
          <a:prstGeom prst="hexagon">
            <a:avLst/>
          </a:prstGeom>
          <a:solidFill>
            <a:srgbClr val="4B45C9"/>
          </a:solidFill>
          <a:ln w="13970">
            <a:solidFill>
              <a:srgbClr val="2BD7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ORQUESTADOR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Router + estado + síntesis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3063240" y="1481328"/>
            <a:ext cx="1645920" cy="658368"/>
          </a:xfrm>
          <a:prstGeom prst="roundRect">
            <a:avLst/>
          </a:prstGeom>
          <a:solidFill>
            <a:srgbClr val="152D52">
              <a:alpha val="95000"/>
            </a:srgbClr>
          </a:solidFill>
          <a:ln w="13970">
            <a:solidFill>
              <a:srgbClr val="2BD7FF">
                <a:alpha val="8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políticas y docs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063240" y="2816352"/>
            <a:ext cx="1645920" cy="658368"/>
          </a:xfrm>
          <a:prstGeom prst="roundRect">
            <a:avLst/>
          </a:prstGeom>
          <a:solidFill>
            <a:srgbClr val="152D52">
              <a:alpha val="95000"/>
            </a:srgbClr>
          </a:solidFill>
          <a:ln w="13970">
            <a:solidFill>
              <a:srgbClr val="61D59F">
                <a:alpha val="8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Quality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perfilado y limpieza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063240" y="4370832"/>
            <a:ext cx="1645920" cy="658368"/>
          </a:xfrm>
          <a:prstGeom prst="roundRect">
            <a:avLst/>
          </a:prstGeom>
          <a:solidFill>
            <a:srgbClr val="152D52">
              <a:alpha val="95000"/>
            </a:srgbClr>
          </a:solidFill>
          <a:ln w="13970">
            <a:solidFill>
              <a:srgbClr val="8C6BFF">
                <a:alpha val="8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RFM y experiencia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452360" y="1481328"/>
            <a:ext cx="1645920" cy="658368"/>
          </a:xfrm>
          <a:prstGeom prst="roundRect">
            <a:avLst/>
          </a:prstGeom>
          <a:solidFill>
            <a:srgbClr val="152D52">
              <a:alpha val="95000"/>
            </a:srgbClr>
          </a:solidFill>
          <a:ln w="13970">
            <a:solidFill>
              <a:srgbClr val="2BD7FF">
                <a:alpha val="8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stock y pedidos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452360" y="2816352"/>
            <a:ext cx="1645920" cy="658368"/>
          </a:xfrm>
          <a:prstGeom prst="roundRect">
            <a:avLst/>
          </a:prstGeom>
          <a:solidFill>
            <a:srgbClr val="152D52">
              <a:alpha val="95000"/>
            </a:srgbClr>
          </a:solidFill>
          <a:ln w="13970">
            <a:solidFill>
              <a:srgbClr val="61D59F">
                <a:alpha val="8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devoluciones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452360" y="4370832"/>
            <a:ext cx="1645920" cy="658368"/>
          </a:xfrm>
          <a:prstGeom prst="roundRect">
            <a:avLst/>
          </a:prstGeom>
          <a:solidFill>
            <a:srgbClr val="152D52">
              <a:alpha val="95000"/>
            </a:srgbClr>
          </a:solidFill>
          <a:ln w="13970">
            <a:solidFill>
              <a:srgbClr val="8C6BFF">
                <a:alpha val="8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Storyteller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insights finales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0716768" y="1691640"/>
            <a:ext cx="1051560" cy="502920"/>
          </a:xfrm>
          <a:prstGeom prst="roundRect">
            <a:avLst/>
          </a:prstGeom>
          <a:solidFill>
            <a:srgbClr val="152D52">
              <a:alpha val="92000"/>
            </a:srgbClr>
          </a:solidFill>
          <a:ln w="13970">
            <a:solidFill>
              <a:srgbClr val="2BD7FF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Acción</a:t>
            </a:r>
            <a:endParaRPr lang="en-US" sz="890" dirty="0"/>
          </a:p>
          <a:p>
            <a:pPr marL="0" indent="0" algn="ctr">
              <a:buNone/>
            </a:pPr>
            <a:r>
              <a:rPr lang="en-US" sz="89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recomendada</a:t>
            </a:r>
            <a:endParaRPr lang="en-US" sz="890" dirty="0"/>
          </a:p>
        </p:txBody>
      </p:sp>
      <p:sp>
        <p:nvSpPr>
          <p:cNvPr id="44" name="Text 42"/>
          <p:cNvSpPr/>
          <p:nvPr/>
        </p:nvSpPr>
        <p:spPr>
          <a:xfrm>
            <a:off x="10716768" y="2971800"/>
            <a:ext cx="1051560" cy="502920"/>
          </a:xfrm>
          <a:prstGeom prst="roundRect">
            <a:avLst/>
          </a:prstGeom>
          <a:solidFill>
            <a:srgbClr val="152D52">
              <a:alpha val="92000"/>
            </a:srgbClr>
          </a:solidFill>
          <a:ln w="13970">
            <a:solidFill>
              <a:srgbClr val="61D59F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Informe</a:t>
            </a:r>
            <a:endParaRPr lang="en-US" sz="890" dirty="0"/>
          </a:p>
          <a:p>
            <a:pPr marL="0" indent="0" algn="ctr">
              <a:buNone/>
            </a:pPr>
            <a:r>
              <a:rPr lang="en-US" sz="89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ejecutivo</a:t>
            </a:r>
            <a:endParaRPr lang="en-US" sz="890" dirty="0"/>
          </a:p>
        </p:txBody>
      </p:sp>
      <p:sp>
        <p:nvSpPr>
          <p:cNvPr id="45" name="Text 43"/>
          <p:cNvSpPr/>
          <p:nvPr/>
        </p:nvSpPr>
        <p:spPr>
          <a:xfrm>
            <a:off x="10716768" y="4251960"/>
            <a:ext cx="1051560" cy="502920"/>
          </a:xfrm>
          <a:prstGeom prst="roundRect">
            <a:avLst/>
          </a:prstGeom>
          <a:solidFill>
            <a:srgbClr val="152D52">
              <a:alpha val="92000"/>
            </a:srgbClr>
          </a:solidFill>
          <a:ln w="13970">
            <a:solidFill>
              <a:srgbClr val="8C6BFF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Próximo</a:t>
            </a:r>
            <a:endParaRPr lang="en-US" sz="890" dirty="0"/>
          </a:p>
          <a:p>
            <a:pPr marL="0" indent="0" algn="ctr">
              <a:buNone/>
            </a:pPr>
            <a:r>
              <a:rPr lang="en-US" sz="89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demo</a:t>
            </a:r>
            <a:endParaRPr lang="en-US" sz="890" dirty="0"/>
          </a:p>
        </p:txBody>
      </p:sp>
      <p:sp>
        <p:nvSpPr>
          <p:cNvPr id="46" name="Shape 27">
            <a:extLst>
              <a:ext uri="{FF2B5EF4-FFF2-40B4-BE49-F238E27FC236}">
                <a16:creationId xmlns:a16="http://schemas.microsoft.com/office/drawing/2014/main" id="{CDA809B2-F92D-8236-CD3C-3CD280F6692A}"/>
              </a:ext>
            </a:extLst>
          </p:cNvPr>
          <p:cNvSpPr/>
          <p:nvPr/>
        </p:nvSpPr>
        <p:spPr>
          <a:xfrm flipH="1" flipV="1">
            <a:off x="4587240" y="1783080"/>
            <a:ext cx="716280" cy="731520"/>
          </a:xfrm>
          <a:prstGeom prst="line">
            <a:avLst/>
          </a:prstGeom>
          <a:noFill/>
          <a:ln w="12700">
            <a:solidFill>
              <a:srgbClr val="8C6BFF">
                <a:alpha val="6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47" name="Shape 27">
            <a:extLst>
              <a:ext uri="{FF2B5EF4-FFF2-40B4-BE49-F238E27FC236}">
                <a16:creationId xmlns:a16="http://schemas.microsoft.com/office/drawing/2014/main" id="{E0D17543-F8C3-BD02-C3E7-033A8EE9376D}"/>
              </a:ext>
            </a:extLst>
          </p:cNvPr>
          <p:cNvSpPr/>
          <p:nvPr/>
        </p:nvSpPr>
        <p:spPr>
          <a:xfrm flipH="1">
            <a:off x="4663440" y="3703320"/>
            <a:ext cx="914400" cy="905254"/>
          </a:xfrm>
          <a:prstGeom prst="line">
            <a:avLst/>
          </a:prstGeom>
          <a:noFill/>
          <a:ln w="12700">
            <a:solidFill>
              <a:srgbClr val="8C6BFF">
                <a:alpha val="6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48" name="Shape 27">
            <a:extLst>
              <a:ext uri="{FF2B5EF4-FFF2-40B4-BE49-F238E27FC236}">
                <a16:creationId xmlns:a16="http://schemas.microsoft.com/office/drawing/2014/main" id="{E49E0686-BF97-DF2D-83F7-749115C80CA1}"/>
              </a:ext>
            </a:extLst>
          </p:cNvPr>
          <p:cNvSpPr/>
          <p:nvPr/>
        </p:nvSpPr>
        <p:spPr>
          <a:xfrm flipH="1">
            <a:off x="4709160" y="2862071"/>
            <a:ext cx="259080" cy="283465"/>
          </a:xfrm>
          <a:prstGeom prst="line">
            <a:avLst/>
          </a:prstGeom>
          <a:noFill/>
          <a:ln w="12700">
            <a:solidFill>
              <a:srgbClr val="8C6BFF">
                <a:alpha val="6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6"/>
          </a:solidFill>
          <a:ln w="12700">
            <a:solidFill>
              <a:srgbClr val="0714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D7FF"/>
          </a:solidFill>
          <a:ln w="12700">
            <a:solidFill>
              <a:srgbClr val="2BD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8C6BFF"/>
          </a:solidFill>
          <a:ln w="12700">
            <a:solidFill>
              <a:srgbClr val="8C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2700">
            <a:solidFill>
              <a:srgbClr val="152D5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30352" y="6556248"/>
            <a:ext cx="79370" cy="79370"/>
          </a:xfrm>
          <a:prstGeom prst="roundRect">
            <a:avLst/>
          </a:prstGeom>
          <a:solidFill>
            <a:srgbClr val="7BD83D"/>
          </a:solidFill>
          <a:ln w="12700">
            <a:solidFill>
              <a:srgbClr val="7BD8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640903" y="6556248"/>
            <a:ext cx="79370" cy="79370"/>
          </a:xfrm>
          <a:prstGeom prst="roundRect">
            <a:avLst/>
          </a:prstGeom>
          <a:solidFill>
            <a:srgbClr val="2BC4C9"/>
          </a:solidFill>
          <a:ln w="12700">
            <a:solidFill>
              <a:srgbClr val="2BC4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30352" y="6666799"/>
            <a:ext cx="79370" cy="79370"/>
          </a:xfrm>
          <a:prstGeom prst="roundRect">
            <a:avLst/>
          </a:prstGeom>
          <a:solidFill>
            <a:srgbClr val="2BC4C9"/>
          </a:solidFill>
          <a:ln w="12700">
            <a:solidFill>
              <a:srgbClr val="2BC4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640903" y="6666799"/>
            <a:ext cx="79370" cy="79370"/>
          </a:xfrm>
          <a:prstGeom prst="roundRect">
            <a:avLst/>
          </a:prstGeom>
          <a:solidFill>
            <a:srgbClr val="7BD83D"/>
          </a:solidFill>
          <a:ln w="12700">
            <a:solidFill>
              <a:srgbClr val="7BD8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68462" y="6550579"/>
            <a:ext cx="510235" cy="79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6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Dataging</a:t>
            </a:r>
            <a:endParaRPr lang="en-US" sz="546" dirty="0"/>
          </a:p>
        </p:txBody>
      </p:sp>
      <p:sp>
        <p:nvSpPr>
          <p:cNvPr id="11" name="Text 9"/>
          <p:cNvSpPr/>
          <p:nvPr/>
        </p:nvSpPr>
        <p:spPr>
          <a:xfrm>
            <a:off x="768462" y="6652626"/>
            <a:ext cx="737006" cy="68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9" dirty="0">
                <a:solidFill>
                  <a:srgbClr val="2B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Managing through data</a:t>
            </a:r>
            <a:endParaRPr lang="en-US" sz="279" dirty="0"/>
          </a:p>
        </p:txBody>
      </p:sp>
      <p:sp>
        <p:nvSpPr>
          <p:cNvPr id="12" name="Text 10"/>
          <p:cNvSpPr/>
          <p:nvPr/>
        </p:nvSpPr>
        <p:spPr>
          <a:xfrm>
            <a:off x="1572768" y="6565392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FA2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AI Chapter Coruña · FraSoHome · Microsoft Foundry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607040" y="654710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A2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20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915400" y="329184"/>
            <a:ext cx="2423160" cy="310896"/>
          </a:xfrm>
          <a:prstGeom prst="roundRect">
            <a:avLst/>
          </a:prstGeom>
          <a:solidFill>
            <a:srgbClr val="102341">
              <a:alpha val="85000"/>
            </a:srgbClr>
          </a:solidFill>
          <a:ln w="7620">
            <a:solidFill>
              <a:srgbClr val="2BD7FF">
                <a:alpha val="6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FD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 multiagente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66928" y="50292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contrato entre agentes</a:t>
            </a:r>
            <a:endParaRPr lang="en-US" sz="2900" dirty="0"/>
          </a:p>
        </p:txBody>
      </p:sp>
      <p:sp>
        <p:nvSpPr>
          <p:cNvPr id="16" name="Text 14"/>
          <p:cNvSpPr/>
          <p:nvPr/>
        </p:nvSpPr>
        <p:spPr>
          <a:xfrm>
            <a:off x="566928" y="1024128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FD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calidad del sistema depende de salidas estructuradas, no solo de buenos prompts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77240" y="1828800"/>
            <a:ext cx="2194560" cy="2103120"/>
          </a:xfrm>
          <a:prstGeom prst="roundRect">
            <a:avLst/>
          </a:prstGeom>
          <a:solidFill>
            <a:srgbClr val="152D52">
              <a:alpha val="92000"/>
            </a:srgbClr>
          </a:solidFill>
          <a:ln w="13970">
            <a:solidFill>
              <a:srgbClr val="2BD7FF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</a:t>
            </a:r>
            <a:endParaRPr lang="en-US" sz="1320" dirty="0"/>
          </a:p>
          <a:p>
            <a:pPr marL="0" indent="0" algn="l">
              <a:buNone/>
            </a:pPr>
            <a:endParaRPr lang="en-US" sz="1320" dirty="0"/>
          </a:p>
          <a:p>
            <a:pPr marL="0" indent="0" algn="l">
              <a:buNone/>
            </a:pPr>
            <a:r>
              <a:rPr lang="en-US" sz="132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pregunta del usuario</a:t>
            </a:r>
            <a:endParaRPr lang="en-US" sz="1320" dirty="0"/>
          </a:p>
          <a:p>
            <a:pPr marL="0" indent="0" algn="l">
              <a:buNone/>
            </a:pPr>
            <a:r>
              <a:rPr lang="en-US" sz="132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contexto de negocio</a:t>
            </a:r>
            <a:endParaRPr lang="en-US" sz="1320" dirty="0"/>
          </a:p>
          <a:p>
            <a:pPr marL="0" indent="0" algn="l">
              <a:buNone/>
            </a:pPr>
            <a:r>
              <a:rPr lang="en-US" sz="132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datos disponibles</a:t>
            </a:r>
            <a:endParaRPr lang="en-US" sz="1320" dirty="0"/>
          </a:p>
          <a:p>
            <a:pPr marL="0" indent="0" algn="l">
              <a:buNone/>
            </a:pPr>
            <a:r>
              <a:rPr lang="en-US" sz="132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restricciones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3200400" y="2514600"/>
            <a:ext cx="1600200" cy="658368"/>
          </a:xfrm>
          <a:prstGeom prst="chevron">
            <a:avLst/>
          </a:prstGeom>
          <a:solidFill>
            <a:srgbClr val="2BD7FF">
              <a:alpha val="95000"/>
            </a:srgbClr>
          </a:solidFill>
          <a:ln w="10160">
            <a:solidFill>
              <a:srgbClr val="2BD7FF">
                <a:alpha val="8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Normalizar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4892040" y="2514600"/>
            <a:ext cx="1600200" cy="658368"/>
          </a:xfrm>
          <a:prstGeom prst="chevron">
            <a:avLst/>
          </a:prstGeom>
          <a:solidFill>
            <a:srgbClr val="8C6BFF">
              <a:alpha val="95000"/>
            </a:srgbClr>
          </a:solidFill>
          <a:ln w="10160">
            <a:solidFill>
              <a:srgbClr val="8C6BFF">
                <a:alpha val="8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Delegar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6583680" y="2514600"/>
            <a:ext cx="1600200" cy="658368"/>
          </a:xfrm>
          <a:prstGeom prst="chevron">
            <a:avLst/>
          </a:prstGeom>
          <a:solidFill>
            <a:srgbClr val="61D59F">
              <a:alpha val="95000"/>
            </a:srgbClr>
          </a:solidFill>
          <a:ln w="10160">
            <a:solidFill>
              <a:srgbClr val="61D59F">
                <a:alpha val="8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8275320" y="2514600"/>
            <a:ext cx="1600200" cy="658368"/>
          </a:xfrm>
          <a:prstGeom prst="chevron">
            <a:avLst/>
          </a:prstGeom>
          <a:solidFill>
            <a:srgbClr val="FFC85A">
              <a:alpha val="95000"/>
            </a:srgbClr>
          </a:solidFill>
          <a:ln w="10160">
            <a:solidFill>
              <a:srgbClr val="FFC85A">
                <a:alpha val="8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Sintetizar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10012680" y="1783080"/>
            <a:ext cx="1965960" cy="2194560"/>
          </a:xfrm>
          <a:prstGeom prst="roundRect">
            <a:avLst/>
          </a:prstGeom>
          <a:solidFill>
            <a:srgbClr val="152D52">
              <a:alpha val="92000"/>
            </a:srgbClr>
          </a:solidFill>
          <a:ln w="13970">
            <a:solidFill>
              <a:srgbClr val="61D59F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Salida</a:t>
            </a:r>
            <a:endParaRPr lang="en-US" sz="1140" dirty="0"/>
          </a:p>
          <a:p>
            <a:pPr marL="0" indent="0" algn="l">
              <a:buNone/>
            </a:pP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"hallazgos": [],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"evidencias": [],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"riesgos": [],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"siguiente_accion": "..."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}</a:t>
            </a:r>
            <a:endParaRPr lang="en-US" sz="1140" dirty="0"/>
          </a:p>
        </p:txBody>
      </p:sp>
      <p:sp>
        <p:nvSpPr>
          <p:cNvPr id="23" name="Text 21"/>
          <p:cNvSpPr/>
          <p:nvPr/>
        </p:nvSpPr>
        <p:spPr>
          <a:xfrm>
            <a:off x="1828800" y="4709160"/>
            <a:ext cx="8503920" cy="822960"/>
          </a:xfrm>
          <a:prstGeom prst="roundRect">
            <a:avLst/>
          </a:prstGeom>
          <a:solidFill>
            <a:srgbClr val="4B45C9">
              <a:alpha val="92000"/>
            </a:srgbClr>
          </a:solidFill>
          <a:ln w="13970">
            <a:solidFill>
              <a:srgbClr val="8C6BFF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42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Criterios de aceptación</a:t>
            </a:r>
            <a:endParaRPr lang="en-US" sz="1420" dirty="0"/>
          </a:p>
          <a:p>
            <a:pPr marL="0" indent="0" algn="ctr">
              <a:buNone/>
            </a:pPr>
            <a:endParaRPr lang="en-US" sz="1420" dirty="0"/>
          </a:p>
          <a:p>
            <a:pPr marL="0" indent="0" algn="ctr">
              <a:buNone/>
            </a:pPr>
            <a:r>
              <a:rPr lang="en-US" sz="142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responde a la pregunta   ·   ✓ evidencia / cálculo   ·   ✓ hipótesis explícitas   ·   ✓ acción + permiso</a:t>
            </a:r>
            <a:endParaRPr lang="en-US" sz="14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6"/>
          </a:solidFill>
          <a:ln w="12700">
            <a:solidFill>
              <a:srgbClr val="0714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D7FF"/>
          </a:solidFill>
          <a:ln w="12700">
            <a:solidFill>
              <a:srgbClr val="2BD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8C6BFF"/>
          </a:solidFill>
          <a:ln w="12700">
            <a:solidFill>
              <a:srgbClr val="8C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2700">
            <a:solidFill>
              <a:srgbClr val="152D5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30352" y="6556248"/>
            <a:ext cx="79370" cy="79370"/>
          </a:xfrm>
          <a:prstGeom prst="roundRect">
            <a:avLst/>
          </a:prstGeom>
          <a:solidFill>
            <a:srgbClr val="7BD83D"/>
          </a:solidFill>
          <a:ln w="12700">
            <a:solidFill>
              <a:srgbClr val="7BD8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640903" y="6556248"/>
            <a:ext cx="79370" cy="79370"/>
          </a:xfrm>
          <a:prstGeom prst="roundRect">
            <a:avLst/>
          </a:prstGeom>
          <a:solidFill>
            <a:srgbClr val="2BC4C9"/>
          </a:solidFill>
          <a:ln w="12700">
            <a:solidFill>
              <a:srgbClr val="2BC4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30352" y="6666799"/>
            <a:ext cx="79370" cy="79370"/>
          </a:xfrm>
          <a:prstGeom prst="roundRect">
            <a:avLst/>
          </a:prstGeom>
          <a:solidFill>
            <a:srgbClr val="2BC4C9"/>
          </a:solidFill>
          <a:ln w="12700">
            <a:solidFill>
              <a:srgbClr val="2BC4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640903" y="6666799"/>
            <a:ext cx="79370" cy="79370"/>
          </a:xfrm>
          <a:prstGeom prst="roundRect">
            <a:avLst/>
          </a:prstGeom>
          <a:solidFill>
            <a:srgbClr val="7BD83D"/>
          </a:solidFill>
          <a:ln w="12700">
            <a:solidFill>
              <a:srgbClr val="7BD8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68462" y="6550579"/>
            <a:ext cx="510235" cy="79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6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Dataging</a:t>
            </a:r>
            <a:endParaRPr lang="en-US" sz="546" dirty="0"/>
          </a:p>
        </p:txBody>
      </p:sp>
      <p:sp>
        <p:nvSpPr>
          <p:cNvPr id="11" name="Text 9"/>
          <p:cNvSpPr/>
          <p:nvPr/>
        </p:nvSpPr>
        <p:spPr>
          <a:xfrm>
            <a:off x="768462" y="6652626"/>
            <a:ext cx="737006" cy="68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9" dirty="0">
                <a:solidFill>
                  <a:srgbClr val="2B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Managing through data</a:t>
            </a:r>
            <a:endParaRPr lang="en-US" sz="279" dirty="0"/>
          </a:p>
        </p:txBody>
      </p:sp>
      <p:sp>
        <p:nvSpPr>
          <p:cNvPr id="12" name="Text 10"/>
          <p:cNvSpPr/>
          <p:nvPr/>
        </p:nvSpPr>
        <p:spPr>
          <a:xfrm>
            <a:off x="1572768" y="6565392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FA2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AI Chapter Coruña · FraSoHome · Microsoft Foundry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607040" y="654710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A2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20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915400" y="329184"/>
            <a:ext cx="2423160" cy="310896"/>
          </a:xfrm>
          <a:prstGeom prst="roundRect">
            <a:avLst/>
          </a:prstGeom>
          <a:solidFill>
            <a:srgbClr val="102341">
              <a:alpha val="85000"/>
            </a:srgbClr>
          </a:solidFill>
          <a:ln w="7620">
            <a:solidFill>
              <a:srgbClr val="2BD7FF">
                <a:alpha val="6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FD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66928" y="50292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Conocimiento: respuestas ancladas a documentos</a:t>
            </a:r>
            <a:endParaRPr lang="en-US" sz="2900" dirty="0"/>
          </a:p>
        </p:txBody>
      </p:sp>
      <p:sp>
        <p:nvSpPr>
          <p:cNvPr id="16" name="Text 14"/>
          <p:cNvSpPr/>
          <p:nvPr/>
        </p:nvSpPr>
        <p:spPr>
          <a:xfrm>
            <a:off x="566928" y="1024128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FD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Search permite que el agente consulte políticas, catálogo y documentación propia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77240" y="1965960"/>
            <a:ext cx="1828800" cy="1828800"/>
          </a:xfrm>
          <a:prstGeom prst="roundRect">
            <a:avLst/>
          </a:prstGeom>
          <a:solidFill>
            <a:srgbClr val="152D52">
              <a:alpha val="92000"/>
            </a:srgbClr>
          </a:solidFill>
          <a:ln w="13970">
            <a:solidFill>
              <a:srgbClr val="2BD7FF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Documentos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clasificados</a:t>
            </a:r>
            <a:endParaRPr lang="en-US" sz="1350" dirty="0"/>
          </a:p>
          <a:p>
            <a:pPr marL="0" indent="0" algn="ctr">
              <a:buNone/>
            </a:pP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Políticas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Catálogo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Devoluciones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926080" y="2606040"/>
            <a:ext cx="1554480" cy="658368"/>
          </a:xfrm>
          <a:prstGeom prst="chevron">
            <a:avLst/>
          </a:prstGeom>
          <a:solidFill>
            <a:srgbClr val="2BD7FF">
              <a:alpha val="95000"/>
            </a:srgbClr>
          </a:solidFill>
          <a:ln w="10160">
            <a:solidFill>
              <a:srgbClr val="2BD7FF">
                <a:alpha val="8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Subir archivos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4617720" y="2606040"/>
            <a:ext cx="1554480" cy="658368"/>
          </a:xfrm>
          <a:prstGeom prst="chevron">
            <a:avLst/>
          </a:prstGeom>
          <a:solidFill>
            <a:srgbClr val="8C6BFF">
              <a:alpha val="95000"/>
            </a:srgbClr>
          </a:solidFill>
          <a:ln w="10160">
            <a:solidFill>
              <a:srgbClr val="8C6BFF">
                <a:alpha val="8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Vector store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6309360" y="2606040"/>
            <a:ext cx="1554480" cy="658368"/>
          </a:xfrm>
          <a:prstGeom prst="chevron">
            <a:avLst/>
          </a:prstGeom>
          <a:solidFill>
            <a:srgbClr val="61D59F">
              <a:alpha val="95000"/>
            </a:srgbClr>
          </a:solidFill>
          <a:ln w="10160">
            <a:solidFill>
              <a:srgbClr val="61D59F">
                <a:alpha val="8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Search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8001000" y="2606040"/>
            <a:ext cx="1554480" cy="658368"/>
          </a:xfrm>
          <a:prstGeom prst="chevron">
            <a:avLst/>
          </a:prstGeom>
          <a:solidFill>
            <a:srgbClr val="FFC85A">
              <a:alpha val="95000"/>
            </a:srgbClr>
          </a:solidFill>
          <a:ln w="10160">
            <a:solidFill>
              <a:srgbClr val="FFC85A">
                <a:alpha val="8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Respuesta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9829800" y="1965960"/>
            <a:ext cx="1828800" cy="1828800"/>
          </a:xfrm>
          <a:prstGeom prst="roundRect">
            <a:avLst/>
          </a:prstGeom>
          <a:solidFill>
            <a:srgbClr val="152D52">
              <a:alpha val="92000"/>
            </a:srgbClr>
          </a:solidFill>
          <a:ln w="13970">
            <a:solidFill>
              <a:srgbClr val="FFC85A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Ejemplo de demo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“¿Qué política de devolución aplica a un sofá comprado online y devuelto en tienda?”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874520" y="4892040"/>
            <a:ext cx="8412480" cy="868680"/>
          </a:xfrm>
          <a:prstGeom prst="roundRect">
            <a:avLst/>
          </a:prstGeom>
          <a:solidFill>
            <a:srgbClr val="102341">
              <a:alpha val="92000"/>
            </a:srgbClr>
          </a:solidFill>
          <a:ln w="13970">
            <a:solidFill>
              <a:srgbClr val="61D59F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se debe ver</a:t>
            </a:r>
            <a:endParaRPr lang="en-US" sz="1320" dirty="0"/>
          </a:p>
          <a:p>
            <a:pPr marL="0" indent="0" algn="ctr">
              <a:buNone/>
            </a:pPr>
            <a:endParaRPr lang="en-US" sz="1320" dirty="0"/>
          </a:p>
          <a:p>
            <a:pPr marL="0" indent="0" algn="ctr">
              <a:buNone/>
            </a:pPr>
            <a:r>
              <a:rPr lang="en-US" sz="132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Respuesta clara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Evidencia de documento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Límites si falta información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Próximo paso operativo</a:t>
            </a:r>
            <a:endParaRPr lang="en-US" sz="13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D7FF"/>
          </a:solidFill>
          <a:ln w="12700">
            <a:solidFill>
              <a:srgbClr val="2BD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8C6BFF"/>
          </a:solidFill>
          <a:ln w="12700">
            <a:solidFill>
              <a:srgbClr val="8C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2700">
            <a:solidFill>
              <a:srgbClr val="152D5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30352" y="6556248"/>
            <a:ext cx="79370" cy="79370"/>
          </a:xfrm>
          <a:prstGeom prst="roundRect">
            <a:avLst/>
          </a:prstGeom>
          <a:solidFill>
            <a:srgbClr val="7BD83D"/>
          </a:solidFill>
          <a:ln w="12700">
            <a:solidFill>
              <a:srgbClr val="7BD8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640903" y="6556248"/>
            <a:ext cx="79370" cy="79370"/>
          </a:xfrm>
          <a:prstGeom prst="roundRect">
            <a:avLst/>
          </a:prstGeom>
          <a:solidFill>
            <a:srgbClr val="2BC4C9"/>
          </a:solidFill>
          <a:ln w="12700">
            <a:solidFill>
              <a:srgbClr val="2BC4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30352" y="6666799"/>
            <a:ext cx="79370" cy="79370"/>
          </a:xfrm>
          <a:prstGeom prst="roundRect">
            <a:avLst/>
          </a:prstGeom>
          <a:solidFill>
            <a:srgbClr val="2BC4C9"/>
          </a:solidFill>
          <a:ln w="12700">
            <a:solidFill>
              <a:srgbClr val="2BC4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640903" y="6666799"/>
            <a:ext cx="79370" cy="79370"/>
          </a:xfrm>
          <a:prstGeom prst="roundRect">
            <a:avLst/>
          </a:prstGeom>
          <a:solidFill>
            <a:srgbClr val="7BD83D"/>
          </a:solidFill>
          <a:ln w="12700">
            <a:solidFill>
              <a:srgbClr val="7BD8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68462" y="6550579"/>
            <a:ext cx="510235" cy="79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6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Dataging</a:t>
            </a:r>
            <a:endParaRPr lang="en-US" sz="546" dirty="0"/>
          </a:p>
        </p:txBody>
      </p:sp>
      <p:sp>
        <p:nvSpPr>
          <p:cNvPr id="11" name="Text 9"/>
          <p:cNvSpPr/>
          <p:nvPr/>
        </p:nvSpPr>
        <p:spPr>
          <a:xfrm>
            <a:off x="768462" y="6652626"/>
            <a:ext cx="737006" cy="68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9" dirty="0">
                <a:solidFill>
                  <a:srgbClr val="2B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Managing through data</a:t>
            </a:r>
            <a:endParaRPr lang="en-US" sz="279" dirty="0"/>
          </a:p>
        </p:txBody>
      </p:sp>
      <p:sp>
        <p:nvSpPr>
          <p:cNvPr id="12" name="Text 10"/>
          <p:cNvSpPr/>
          <p:nvPr/>
        </p:nvSpPr>
        <p:spPr>
          <a:xfrm>
            <a:off x="1572768" y="6565392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FA2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AI Chapter Coruña · FraSoHome · Microsoft Foundry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607040" y="654710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A2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20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915400" y="329184"/>
            <a:ext cx="2423160" cy="310896"/>
          </a:xfrm>
          <a:prstGeom prst="roundRect">
            <a:avLst/>
          </a:prstGeom>
          <a:solidFill>
            <a:srgbClr val="102341">
              <a:alpha val="85000"/>
            </a:srgbClr>
          </a:solidFill>
          <a:ln w="7620">
            <a:solidFill>
              <a:srgbClr val="2BD7FF">
                <a:alpha val="6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FD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Herramientas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66928" y="50292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Datos: análisis con Code Interpreter</a:t>
            </a:r>
            <a:endParaRPr lang="en-US" sz="2900" dirty="0"/>
          </a:p>
        </p:txBody>
      </p:sp>
      <p:sp>
        <p:nvSpPr>
          <p:cNvPr id="16" name="Text 14"/>
          <p:cNvSpPr/>
          <p:nvPr/>
        </p:nvSpPr>
        <p:spPr>
          <a:xfrm>
            <a:off x="566928" y="1024128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FD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agente puede ejecutar Python en un entorno gestionado para convertir CSVs en hallazgos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77240" y="1783080"/>
            <a:ext cx="1078992" cy="493776"/>
          </a:xfrm>
          <a:prstGeom prst="roundRect">
            <a:avLst/>
          </a:prstGeom>
          <a:solidFill>
            <a:srgbClr val="152D52">
              <a:alpha val="90000"/>
            </a:srgbClr>
          </a:solidFill>
          <a:ln w="10160">
            <a:solidFill>
              <a:srgbClr val="2BD7FF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BFD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crm.csv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777240" y="2606040"/>
            <a:ext cx="1078992" cy="493776"/>
          </a:xfrm>
          <a:prstGeom prst="roundRect">
            <a:avLst/>
          </a:prstGeom>
          <a:solidFill>
            <a:srgbClr val="152D52">
              <a:alpha val="90000"/>
            </a:srgbClr>
          </a:solidFill>
          <a:ln w="10160">
            <a:solidFill>
              <a:srgbClr val="8C6BFF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BFD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orders.csv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777240" y="3429000"/>
            <a:ext cx="1078992" cy="493776"/>
          </a:xfrm>
          <a:prstGeom prst="roundRect">
            <a:avLst/>
          </a:prstGeom>
          <a:solidFill>
            <a:srgbClr val="152D52">
              <a:alpha val="90000"/>
            </a:srgbClr>
          </a:solidFill>
          <a:ln w="10160">
            <a:solidFill>
              <a:srgbClr val="61D59F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BFD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returns.csv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77240" y="4251960"/>
            <a:ext cx="1078992" cy="493776"/>
          </a:xfrm>
          <a:prstGeom prst="roundRect">
            <a:avLst/>
          </a:prstGeom>
          <a:solidFill>
            <a:srgbClr val="152D52">
              <a:alpha val="90000"/>
            </a:srgbClr>
          </a:solidFill>
          <a:ln w="10160">
            <a:solidFill>
              <a:srgbClr val="FFC85A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BFD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stock.csv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1874520" y="2029968"/>
            <a:ext cx="1097280" cy="850392"/>
          </a:xfrm>
          <a:prstGeom prst="line">
            <a:avLst/>
          </a:prstGeom>
          <a:noFill/>
          <a:ln w="12700">
            <a:solidFill>
              <a:srgbClr val="2BD7FF">
                <a:alpha val="70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1874520" y="2852928"/>
            <a:ext cx="1097280" cy="118872"/>
          </a:xfrm>
          <a:prstGeom prst="line">
            <a:avLst/>
          </a:prstGeom>
          <a:noFill/>
          <a:ln w="12700">
            <a:solidFill>
              <a:srgbClr val="8C6BFF">
                <a:alpha val="70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1874520" y="3675888"/>
            <a:ext cx="1097280" cy="0"/>
          </a:xfrm>
          <a:prstGeom prst="line">
            <a:avLst/>
          </a:prstGeom>
          <a:noFill/>
          <a:ln w="12700">
            <a:solidFill>
              <a:srgbClr val="61D59F">
                <a:alpha val="70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 flipV="1">
            <a:off x="1874520" y="3977641"/>
            <a:ext cx="1188720" cy="521207"/>
          </a:xfrm>
          <a:prstGeom prst="line">
            <a:avLst/>
          </a:prstGeom>
          <a:noFill/>
          <a:ln w="12700">
            <a:solidFill>
              <a:srgbClr val="FFC85A">
                <a:alpha val="70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3063240" y="2103120"/>
            <a:ext cx="2377440" cy="2057400"/>
          </a:xfrm>
          <a:prstGeom prst="roundRect">
            <a:avLst/>
          </a:prstGeom>
          <a:solidFill>
            <a:srgbClr val="4B45C9">
              <a:alpha val="92000"/>
            </a:srgbClr>
          </a:solidFill>
          <a:ln w="13970">
            <a:solidFill>
              <a:srgbClr val="2BD7FF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Interpreter</a:t>
            </a:r>
            <a:endParaRPr lang="en-US" sz="1450" dirty="0"/>
          </a:p>
          <a:p>
            <a:pPr marL="0" indent="0" algn="ctr">
              <a:buNone/>
            </a:pPr>
            <a:endParaRPr lang="en-US" sz="1450" dirty="0"/>
          </a:p>
          <a:p>
            <a:pPr marL="0" indent="0" algn="ctr">
              <a:buNone/>
            </a:pPr>
            <a:r>
              <a:rPr lang="en-US" sz="14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sandbox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pandas · profiling · gráficos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validaciones rápidas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5486400" y="3063240"/>
            <a:ext cx="868680" cy="0"/>
          </a:xfrm>
          <a:prstGeom prst="line">
            <a:avLst/>
          </a:prstGeom>
          <a:noFill/>
          <a:ln w="15240">
            <a:solidFill>
              <a:srgbClr val="2BD7FF">
                <a:alpha val="90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6537960" y="1600200"/>
            <a:ext cx="2468880" cy="2743200"/>
          </a:xfrm>
          <a:prstGeom prst="roundRect">
            <a:avLst/>
          </a:prstGeom>
          <a:solidFill>
            <a:srgbClr val="152D52">
              <a:alpha val="92000"/>
            </a:srgbClr>
          </a:solidFill>
          <a:ln w="13970">
            <a:solidFill>
              <a:srgbClr val="61D59F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Quality Report</a:t>
            </a:r>
            <a:endParaRPr lang="en-US" sz="1340" dirty="0"/>
          </a:p>
          <a:p>
            <a:pPr marL="0" indent="0" algn="l">
              <a:buNone/>
            </a:pPr>
            <a:endParaRPr lang="en-US" sz="1340" dirty="0"/>
          </a:p>
          <a:p>
            <a:pPr marL="0" indent="0" algn="l">
              <a:buNone/>
            </a:pPr>
            <a:r>
              <a:rPr lang="en-US" sz="134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nulos por campo</a:t>
            </a:r>
            <a:endParaRPr lang="en-US" sz="1340" dirty="0"/>
          </a:p>
          <a:p>
            <a:pPr marL="0" indent="0" algn="l">
              <a:buNone/>
            </a:pPr>
            <a:r>
              <a:rPr lang="en-US" sz="134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duplicados</a:t>
            </a:r>
            <a:endParaRPr lang="en-US" sz="1340" dirty="0"/>
          </a:p>
          <a:p>
            <a:pPr marL="0" indent="0" algn="l">
              <a:buNone/>
            </a:pPr>
            <a:r>
              <a:rPr lang="en-US" sz="134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claves no mapeadas</a:t>
            </a:r>
            <a:endParaRPr lang="en-US" sz="1340" dirty="0"/>
          </a:p>
          <a:p>
            <a:pPr marL="0" indent="0" algn="l">
              <a:buNone/>
            </a:pPr>
            <a:r>
              <a:rPr lang="en-US" sz="134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stock negativo</a:t>
            </a:r>
            <a:endParaRPr lang="en-US" sz="1340" dirty="0"/>
          </a:p>
          <a:p>
            <a:pPr marL="0" indent="0" algn="l">
              <a:buNone/>
            </a:pPr>
            <a:r>
              <a:rPr lang="en-US" sz="134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fechas fuera de rango</a:t>
            </a:r>
            <a:endParaRPr lang="en-US" sz="1340" dirty="0"/>
          </a:p>
        </p:txBody>
      </p:sp>
      <p:sp>
        <p:nvSpPr>
          <p:cNvPr id="28" name="Text 26"/>
          <p:cNvSpPr/>
          <p:nvPr/>
        </p:nvSpPr>
        <p:spPr>
          <a:xfrm>
            <a:off x="9326880" y="1920240"/>
            <a:ext cx="2240280" cy="2103120"/>
          </a:xfrm>
          <a:prstGeom prst="roundRect">
            <a:avLst/>
          </a:prstGeom>
          <a:solidFill>
            <a:srgbClr val="152D52">
              <a:alpha val="92000"/>
            </a:srgbClr>
          </a:solidFill>
          <a:ln w="13970">
            <a:solidFill>
              <a:srgbClr val="FFC85A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 ejecutivo</a:t>
            </a:r>
            <a:endParaRPr lang="en-US" sz="1250" dirty="0"/>
          </a:p>
          <a:p>
            <a:pPr marL="0" indent="0" algn="ctr">
              <a:buNone/>
            </a:pP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“La tasa de devolución online sube en iluminación y textil; revisar SKUs con descuento alto y stock irregular.”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6"/>
          </a:solidFill>
          <a:ln w="12700">
            <a:solidFill>
              <a:srgbClr val="0714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D7FF"/>
          </a:solidFill>
          <a:ln w="12700">
            <a:solidFill>
              <a:srgbClr val="2BD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8C6BFF"/>
          </a:solidFill>
          <a:ln w="12700">
            <a:solidFill>
              <a:srgbClr val="8C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2700">
            <a:solidFill>
              <a:srgbClr val="152D5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30352" y="6556248"/>
            <a:ext cx="79370" cy="79370"/>
          </a:xfrm>
          <a:prstGeom prst="roundRect">
            <a:avLst/>
          </a:prstGeom>
          <a:solidFill>
            <a:srgbClr val="7BD83D"/>
          </a:solidFill>
          <a:ln w="12700">
            <a:solidFill>
              <a:srgbClr val="7BD8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640903" y="6556248"/>
            <a:ext cx="79370" cy="79370"/>
          </a:xfrm>
          <a:prstGeom prst="roundRect">
            <a:avLst/>
          </a:prstGeom>
          <a:solidFill>
            <a:srgbClr val="2BC4C9"/>
          </a:solidFill>
          <a:ln w="12700">
            <a:solidFill>
              <a:srgbClr val="2BC4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30352" y="6666799"/>
            <a:ext cx="79370" cy="79370"/>
          </a:xfrm>
          <a:prstGeom prst="roundRect">
            <a:avLst/>
          </a:prstGeom>
          <a:solidFill>
            <a:srgbClr val="2BC4C9"/>
          </a:solidFill>
          <a:ln w="12700">
            <a:solidFill>
              <a:srgbClr val="2BC4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640903" y="6666799"/>
            <a:ext cx="79370" cy="79370"/>
          </a:xfrm>
          <a:prstGeom prst="roundRect">
            <a:avLst/>
          </a:prstGeom>
          <a:solidFill>
            <a:srgbClr val="7BD83D"/>
          </a:solidFill>
          <a:ln w="12700">
            <a:solidFill>
              <a:srgbClr val="7BD8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68462" y="6550579"/>
            <a:ext cx="510235" cy="79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6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Dataging</a:t>
            </a:r>
            <a:endParaRPr lang="en-US" sz="546" dirty="0"/>
          </a:p>
        </p:txBody>
      </p:sp>
      <p:sp>
        <p:nvSpPr>
          <p:cNvPr id="11" name="Text 9"/>
          <p:cNvSpPr/>
          <p:nvPr/>
        </p:nvSpPr>
        <p:spPr>
          <a:xfrm>
            <a:off x="768462" y="6652626"/>
            <a:ext cx="737006" cy="68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9" dirty="0">
                <a:solidFill>
                  <a:srgbClr val="2B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Managing through data</a:t>
            </a:r>
            <a:endParaRPr lang="en-US" sz="279" dirty="0"/>
          </a:p>
        </p:txBody>
      </p:sp>
      <p:sp>
        <p:nvSpPr>
          <p:cNvPr id="12" name="Text 10"/>
          <p:cNvSpPr/>
          <p:nvPr/>
        </p:nvSpPr>
        <p:spPr>
          <a:xfrm>
            <a:off x="1572768" y="6565392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FA2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AI Chapter Coruña · FraSoHome · Microsoft Foundry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607040" y="654710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A2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20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915400" y="329184"/>
            <a:ext cx="2423160" cy="310896"/>
          </a:xfrm>
          <a:prstGeom prst="roundRect">
            <a:avLst/>
          </a:prstGeom>
          <a:solidFill>
            <a:srgbClr val="102341">
              <a:alpha val="85000"/>
            </a:srgbClr>
          </a:solidFill>
          <a:ln w="7620">
            <a:solidFill>
              <a:srgbClr val="2BD7FF">
                <a:alpha val="6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FD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66928" y="50292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Workflows: cuando el proceso debe ser visible</a:t>
            </a:r>
            <a:endParaRPr lang="en-US" sz="2900" dirty="0"/>
          </a:p>
        </p:txBody>
      </p:sp>
      <p:sp>
        <p:nvSpPr>
          <p:cNvPr id="16" name="Text 14"/>
          <p:cNvSpPr/>
          <p:nvPr/>
        </p:nvSpPr>
        <p:spPr>
          <a:xfrm>
            <a:off x="566928" y="1024128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FD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workflow convierte la demo en un recorrido entendible para negocio y perfiles no técnicos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920240" y="2103120"/>
            <a:ext cx="822960" cy="0"/>
          </a:xfrm>
          <a:prstGeom prst="line">
            <a:avLst/>
          </a:prstGeom>
          <a:noFill/>
          <a:ln w="12700">
            <a:solidFill>
              <a:srgbClr val="2BD7FF">
                <a:alpha val="80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3931920" y="2103120"/>
            <a:ext cx="640080" cy="0"/>
          </a:xfrm>
          <a:prstGeom prst="line">
            <a:avLst/>
          </a:prstGeom>
          <a:noFill/>
          <a:ln w="12700">
            <a:solidFill>
              <a:srgbClr val="2BD7FF">
                <a:alpha val="80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3931920" y="2103120"/>
            <a:ext cx="640080" cy="548640"/>
          </a:xfrm>
          <a:prstGeom prst="line">
            <a:avLst/>
          </a:prstGeom>
          <a:noFill/>
          <a:ln w="12700">
            <a:solidFill>
              <a:srgbClr val="8C6BFF">
                <a:alpha val="80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3931920" y="2103120"/>
            <a:ext cx="640080" cy="1737360"/>
          </a:xfrm>
          <a:prstGeom prst="line">
            <a:avLst/>
          </a:prstGeom>
          <a:noFill/>
          <a:ln w="12700">
            <a:solidFill>
              <a:srgbClr val="61D59F">
                <a:alpha val="80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6172200" y="1463040"/>
            <a:ext cx="1280160" cy="1280160"/>
          </a:xfrm>
          <a:prstGeom prst="line">
            <a:avLst/>
          </a:prstGeom>
          <a:noFill/>
          <a:ln w="12700">
            <a:solidFill>
              <a:srgbClr val="2BD7FF">
                <a:alpha val="70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6172200" y="2651760"/>
            <a:ext cx="1280160" cy="91440"/>
          </a:xfrm>
          <a:prstGeom prst="line">
            <a:avLst/>
          </a:prstGeom>
          <a:noFill/>
          <a:ln w="12700">
            <a:solidFill>
              <a:srgbClr val="8C6BFF">
                <a:alpha val="70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 flipV="1">
            <a:off x="6172200" y="2980944"/>
            <a:ext cx="1234440" cy="859536"/>
          </a:xfrm>
          <a:prstGeom prst="line">
            <a:avLst/>
          </a:prstGeom>
          <a:noFill/>
          <a:ln w="12700">
            <a:solidFill>
              <a:srgbClr val="61D59F">
                <a:alpha val="70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8732520" y="2743200"/>
            <a:ext cx="777240" cy="0"/>
          </a:xfrm>
          <a:prstGeom prst="line">
            <a:avLst/>
          </a:prstGeom>
          <a:noFill/>
          <a:ln w="12700">
            <a:solidFill>
              <a:srgbClr val="FFC85A">
                <a:alpha val="80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10744200" y="2743200"/>
            <a:ext cx="731520" cy="0"/>
          </a:xfrm>
          <a:prstGeom prst="line">
            <a:avLst/>
          </a:prstGeom>
          <a:noFill/>
          <a:ln w="12700">
            <a:solidFill>
              <a:srgbClr val="2BD7FF">
                <a:alpha val="80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685800" y="1810512"/>
            <a:ext cx="1234440" cy="566928"/>
          </a:xfrm>
          <a:prstGeom prst="roundRect">
            <a:avLst/>
          </a:prstGeom>
          <a:solidFill>
            <a:srgbClr val="152D52">
              <a:alpha val="92000"/>
            </a:srgbClr>
          </a:solidFill>
          <a:ln w="13970">
            <a:solidFill>
              <a:srgbClr val="2BD7FF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negocio</a:t>
            </a:r>
            <a:endParaRPr lang="en-US" sz="1030" dirty="0"/>
          </a:p>
        </p:txBody>
      </p:sp>
      <p:sp>
        <p:nvSpPr>
          <p:cNvPr id="27" name="Text 25"/>
          <p:cNvSpPr/>
          <p:nvPr/>
        </p:nvSpPr>
        <p:spPr>
          <a:xfrm>
            <a:off x="2743200" y="1810512"/>
            <a:ext cx="1188720" cy="566928"/>
          </a:xfrm>
          <a:prstGeom prst="roundRect">
            <a:avLst/>
          </a:prstGeom>
          <a:solidFill>
            <a:srgbClr val="152D52">
              <a:alpha val="92000"/>
            </a:srgbClr>
          </a:solidFill>
          <a:ln w="13970">
            <a:solidFill>
              <a:srgbClr val="8C6BFF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Router</a:t>
            </a:r>
            <a:endParaRPr lang="en-US" sz="970" dirty="0"/>
          </a:p>
          <a:p>
            <a:pPr marL="0" indent="0" algn="ctr">
              <a:buNone/>
            </a:pPr>
            <a:r>
              <a:rPr lang="en-US" sz="97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clasifica intención</a:t>
            </a:r>
            <a:endParaRPr lang="en-US" sz="970" dirty="0"/>
          </a:p>
        </p:txBody>
      </p:sp>
      <p:sp>
        <p:nvSpPr>
          <p:cNvPr id="28" name="Text 26"/>
          <p:cNvSpPr/>
          <p:nvPr/>
        </p:nvSpPr>
        <p:spPr>
          <a:xfrm>
            <a:off x="4572000" y="1417320"/>
            <a:ext cx="1600200" cy="512064"/>
          </a:xfrm>
          <a:prstGeom prst="roundRect">
            <a:avLst/>
          </a:prstGeom>
          <a:solidFill>
            <a:srgbClr val="152D52">
              <a:alpha val="92000"/>
            </a:srgbClr>
          </a:solidFill>
          <a:ln w="13970">
            <a:solidFill>
              <a:srgbClr val="2BD7FF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</a:t>
            </a:r>
            <a:endParaRPr lang="en-US" sz="1040" dirty="0"/>
          </a:p>
        </p:txBody>
      </p:sp>
      <p:sp>
        <p:nvSpPr>
          <p:cNvPr id="29" name="Text 27"/>
          <p:cNvSpPr/>
          <p:nvPr/>
        </p:nvSpPr>
        <p:spPr>
          <a:xfrm>
            <a:off x="4572000" y="2395728"/>
            <a:ext cx="1600200" cy="512064"/>
          </a:xfrm>
          <a:prstGeom prst="roundRect">
            <a:avLst/>
          </a:prstGeom>
          <a:solidFill>
            <a:srgbClr val="152D52">
              <a:alpha val="92000"/>
            </a:srgbClr>
          </a:solidFill>
          <a:ln w="13970">
            <a:solidFill>
              <a:srgbClr val="8C6BFF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Quality</a:t>
            </a:r>
            <a:endParaRPr lang="en-US" sz="1040" dirty="0"/>
          </a:p>
        </p:txBody>
      </p:sp>
      <p:sp>
        <p:nvSpPr>
          <p:cNvPr id="30" name="Text 28"/>
          <p:cNvSpPr/>
          <p:nvPr/>
        </p:nvSpPr>
        <p:spPr>
          <a:xfrm>
            <a:off x="4572000" y="3584448"/>
            <a:ext cx="1600200" cy="512064"/>
          </a:xfrm>
          <a:prstGeom prst="roundRect">
            <a:avLst/>
          </a:prstGeom>
          <a:solidFill>
            <a:srgbClr val="152D52">
              <a:alpha val="92000"/>
            </a:srgbClr>
          </a:solidFill>
          <a:ln w="13970">
            <a:solidFill>
              <a:srgbClr val="61D59F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</a:t>
            </a:r>
            <a:endParaRPr lang="en-US" sz="1040" dirty="0"/>
          </a:p>
        </p:txBody>
      </p:sp>
      <p:sp>
        <p:nvSpPr>
          <p:cNvPr id="31" name="Text 29"/>
          <p:cNvSpPr/>
          <p:nvPr/>
        </p:nvSpPr>
        <p:spPr>
          <a:xfrm>
            <a:off x="7452360" y="2468880"/>
            <a:ext cx="1280160" cy="566928"/>
          </a:xfrm>
          <a:prstGeom prst="roundRect">
            <a:avLst/>
          </a:prstGeom>
          <a:solidFill>
            <a:srgbClr val="4B45C9">
              <a:alpha val="92000"/>
            </a:srgbClr>
          </a:solidFill>
          <a:ln w="13970">
            <a:solidFill>
              <a:srgbClr val="2BD7FF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Storyteller</a:t>
            </a:r>
            <a:endParaRPr lang="en-US" sz="1040" dirty="0"/>
          </a:p>
          <a:p>
            <a:pPr marL="0" indent="0" algn="ctr">
              <a:buNone/>
            </a:pPr>
            <a:r>
              <a:rPr lang="en-US" sz="104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síntesis</a:t>
            </a:r>
            <a:endParaRPr lang="en-US" sz="1040" dirty="0"/>
          </a:p>
        </p:txBody>
      </p:sp>
      <p:sp>
        <p:nvSpPr>
          <p:cNvPr id="32" name="Text 30"/>
          <p:cNvSpPr/>
          <p:nvPr/>
        </p:nvSpPr>
        <p:spPr>
          <a:xfrm>
            <a:off x="9509760" y="2468880"/>
            <a:ext cx="1234440" cy="566928"/>
          </a:xfrm>
          <a:prstGeom prst="flowChartDecision">
            <a:avLst/>
          </a:prstGeom>
          <a:solidFill>
            <a:srgbClr val="152D52">
              <a:alpha val="92000"/>
            </a:srgbClr>
          </a:solidFill>
          <a:ln w="13970">
            <a:solidFill>
              <a:srgbClr val="FFC85A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1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Confianza</a:t>
            </a:r>
            <a:endParaRPr lang="en-US" sz="1010" dirty="0"/>
          </a:p>
          <a:p>
            <a:pPr marL="0" indent="0" algn="ctr">
              <a:buNone/>
            </a:pPr>
            <a:r>
              <a:rPr lang="en-US" sz="101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baja?</a:t>
            </a:r>
            <a:endParaRPr lang="en-US" sz="1010" dirty="0"/>
          </a:p>
        </p:txBody>
      </p:sp>
      <p:sp>
        <p:nvSpPr>
          <p:cNvPr id="33" name="Text 31"/>
          <p:cNvSpPr/>
          <p:nvPr/>
        </p:nvSpPr>
        <p:spPr>
          <a:xfrm>
            <a:off x="11018520" y="2468880"/>
            <a:ext cx="868680" cy="566928"/>
          </a:xfrm>
          <a:prstGeom prst="roundRect">
            <a:avLst/>
          </a:prstGeom>
          <a:solidFill>
            <a:srgbClr val="152D52">
              <a:alpha val="92000"/>
            </a:srgbClr>
          </a:solidFill>
          <a:ln w="13970">
            <a:solidFill>
              <a:srgbClr val="FF7676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Aprobación</a:t>
            </a:r>
            <a:endParaRPr lang="en-US" sz="870" dirty="0"/>
          </a:p>
          <a:p>
            <a:pPr marL="0" indent="0" algn="ctr">
              <a:buNone/>
            </a:pPr>
            <a:r>
              <a:rPr lang="en-US" sz="87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humana</a:t>
            </a:r>
            <a:endParaRPr lang="en-US" sz="870" dirty="0"/>
          </a:p>
        </p:txBody>
      </p:sp>
      <p:sp>
        <p:nvSpPr>
          <p:cNvPr id="34" name="Text 32"/>
          <p:cNvSpPr/>
          <p:nvPr/>
        </p:nvSpPr>
        <p:spPr>
          <a:xfrm>
            <a:off x="1554480" y="4892040"/>
            <a:ext cx="9006840" cy="914400"/>
          </a:xfrm>
          <a:prstGeom prst="roundRect">
            <a:avLst/>
          </a:prstGeom>
          <a:solidFill>
            <a:srgbClr val="102341">
              <a:alpha val="92000"/>
            </a:srgbClr>
          </a:solidFill>
          <a:ln w="13970">
            <a:solidFill>
              <a:srgbClr val="FFC85A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Ventaja didáctica</a:t>
            </a:r>
            <a:endParaRPr lang="en-US" sz="1350" dirty="0"/>
          </a:p>
          <a:p>
            <a:pPr marL="0" indent="0" algn="ctr">
              <a:buNone/>
            </a:pP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público puede ver el proceso: qué agente actúa, qué condición se evalúa y dónde entra una persona si el sistema no tiene suficiente confianza.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6"/>
          </a:solidFill>
          <a:ln w="12700">
            <a:solidFill>
              <a:srgbClr val="0714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D7FF"/>
          </a:solidFill>
          <a:ln w="12700">
            <a:solidFill>
              <a:srgbClr val="2BD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8C6BFF"/>
          </a:solidFill>
          <a:ln w="12700">
            <a:solidFill>
              <a:srgbClr val="8C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2700">
            <a:solidFill>
              <a:srgbClr val="152D5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30352" y="6556248"/>
            <a:ext cx="79370" cy="79370"/>
          </a:xfrm>
          <a:prstGeom prst="roundRect">
            <a:avLst/>
          </a:prstGeom>
          <a:solidFill>
            <a:srgbClr val="7BD83D"/>
          </a:solidFill>
          <a:ln w="12700">
            <a:solidFill>
              <a:srgbClr val="7BD8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640903" y="6556248"/>
            <a:ext cx="79370" cy="79370"/>
          </a:xfrm>
          <a:prstGeom prst="roundRect">
            <a:avLst/>
          </a:prstGeom>
          <a:solidFill>
            <a:srgbClr val="2BC4C9"/>
          </a:solidFill>
          <a:ln w="12700">
            <a:solidFill>
              <a:srgbClr val="2BC4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30352" y="6666799"/>
            <a:ext cx="79370" cy="79370"/>
          </a:xfrm>
          <a:prstGeom prst="roundRect">
            <a:avLst/>
          </a:prstGeom>
          <a:solidFill>
            <a:srgbClr val="2BC4C9"/>
          </a:solidFill>
          <a:ln w="12700">
            <a:solidFill>
              <a:srgbClr val="2BC4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640903" y="6666799"/>
            <a:ext cx="79370" cy="79370"/>
          </a:xfrm>
          <a:prstGeom prst="roundRect">
            <a:avLst/>
          </a:prstGeom>
          <a:solidFill>
            <a:srgbClr val="7BD83D"/>
          </a:solidFill>
          <a:ln w="12700">
            <a:solidFill>
              <a:srgbClr val="7BD8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68462" y="6550579"/>
            <a:ext cx="510235" cy="79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6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Dataging</a:t>
            </a:r>
            <a:endParaRPr lang="en-US" sz="546" dirty="0"/>
          </a:p>
        </p:txBody>
      </p:sp>
      <p:sp>
        <p:nvSpPr>
          <p:cNvPr id="11" name="Text 9"/>
          <p:cNvSpPr/>
          <p:nvPr/>
        </p:nvSpPr>
        <p:spPr>
          <a:xfrm>
            <a:off x="768462" y="6652626"/>
            <a:ext cx="737006" cy="68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9" dirty="0">
                <a:solidFill>
                  <a:srgbClr val="2B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Managing through data</a:t>
            </a:r>
            <a:endParaRPr lang="en-US" sz="279" dirty="0"/>
          </a:p>
        </p:txBody>
      </p:sp>
      <p:sp>
        <p:nvSpPr>
          <p:cNvPr id="12" name="Text 10"/>
          <p:cNvSpPr/>
          <p:nvPr/>
        </p:nvSpPr>
        <p:spPr>
          <a:xfrm>
            <a:off x="1572768" y="6565392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FA2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AI Chapter Coruña · FraSoHome · Microsoft Foundry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607040" y="654710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A2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/ 20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915400" y="329184"/>
            <a:ext cx="2423160" cy="310896"/>
          </a:xfrm>
          <a:prstGeom prst="roundRect">
            <a:avLst/>
          </a:prstGeom>
          <a:solidFill>
            <a:srgbClr val="102341">
              <a:alpha val="85000"/>
            </a:srgbClr>
          </a:solidFill>
          <a:ln w="7620">
            <a:solidFill>
              <a:srgbClr val="2BD7FF">
                <a:alpha val="6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FD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Framework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66928" y="50292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 Framework: cuando la demo necesita código</a:t>
            </a:r>
            <a:endParaRPr lang="en-US" sz="2900" dirty="0"/>
          </a:p>
        </p:txBody>
      </p:sp>
      <p:sp>
        <p:nvSpPr>
          <p:cNvPr id="16" name="Text 14"/>
          <p:cNvSpPr/>
          <p:nvPr/>
        </p:nvSpPr>
        <p:spPr>
          <a:xfrm>
            <a:off x="566928" y="1024128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FD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pasar de la orquestación visual a lógica propia, estado y flujos multiagente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" y="1508760"/>
            <a:ext cx="3063240" cy="2743200"/>
          </a:xfrm>
          <a:prstGeom prst="roundRect">
            <a:avLst/>
          </a:prstGeom>
          <a:solidFill>
            <a:srgbClr val="152D52">
              <a:alpha val="92000"/>
            </a:srgbClr>
          </a:solidFill>
          <a:ln w="13970">
            <a:solidFill>
              <a:srgbClr val="2BD7FF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l">
              <a:buNone/>
            </a:pPr>
            <a:r>
              <a:rPr lang="en-US" sz="137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 Foundry workflow cuando…</a:t>
            </a:r>
            <a:endParaRPr lang="en-US" sz="1370" dirty="0"/>
          </a:p>
          <a:p>
            <a:pPr marL="0" indent="0" algn="l">
              <a:buNone/>
            </a:pPr>
            <a:endParaRPr lang="en-US" sz="1370" dirty="0"/>
          </a:p>
          <a:p>
            <a:pPr marL="0" indent="0" algn="l">
              <a:buNone/>
            </a:pPr>
            <a:r>
              <a:rPr lang="en-US" sz="137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el flujo es estable</a:t>
            </a:r>
            <a:endParaRPr lang="en-US" sz="1370" dirty="0"/>
          </a:p>
          <a:p>
            <a:pPr marL="0" indent="0" algn="l">
              <a:buNone/>
            </a:pPr>
            <a:r>
              <a:rPr lang="en-US" sz="137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 lógica es sencilla</a:t>
            </a:r>
            <a:endParaRPr lang="en-US" sz="1370" dirty="0"/>
          </a:p>
          <a:p>
            <a:pPr marL="0" indent="0" algn="l">
              <a:buNone/>
            </a:pPr>
            <a:r>
              <a:rPr lang="en-US" sz="137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quieres mostrarlo visualmente</a:t>
            </a:r>
            <a:endParaRPr lang="en-US" sz="1370" dirty="0"/>
          </a:p>
          <a:p>
            <a:pPr marL="0" indent="0" algn="l">
              <a:buNone/>
            </a:pPr>
            <a:r>
              <a:rPr lang="en-US" sz="137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el público necesita entender el proceso</a:t>
            </a:r>
            <a:endParaRPr lang="en-US" sz="1370" dirty="0"/>
          </a:p>
        </p:txBody>
      </p:sp>
      <p:sp>
        <p:nvSpPr>
          <p:cNvPr id="18" name="Text 16"/>
          <p:cNvSpPr/>
          <p:nvPr/>
        </p:nvSpPr>
        <p:spPr>
          <a:xfrm>
            <a:off x="7315200" y="1508760"/>
            <a:ext cx="3063240" cy="2743200"/>
          </a:xfrm>
          <a:prstGeom prst="roundRect">
            <a:avLst/>
          </a:prstGeom>
          <a:solidFill>
            <a:srgbClr val="152D52">
              <a:alpha val="92000"/>
            </a:srgbClr>
          </a:solidFill>
          <a:ln w="13970">
            <a:solidFill>
              <a:srgbClr val="61D59F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l">
              <a:buNone/>
            </a:pPr>
            <a:r>
              <a:rPr lang="en-US" sz="137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 Agent Framework cuando…</a:t>
            </a:r>
            <a:endParaRPr lang="en-US" sz="1370" dirty="0"/>
          </a:p>
          <a:p>
            <a:pPr marL="0" indent="0" algn="l">
              <a:buNone/>
            </a:pPr>
            <a:endParaRPr lang="en-US" sz="1370" dirty="0"/>
          </a:p>
          <a:p>
            <a:pPr marL="0" indent="0" algn="l">
              <a:buNone/>
            </a:pPr>
            <a:r>
              <a:rPr lang="en-US" sz="137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hay lógica condicional compleja</a:t>
            </a:r>
            <a:endParaRPr lang="en-US" sz="1370" dirty="0"/>
          </a:p>
          <a:p>
            <a:pPr marL="0" indent="0" algn="l">
              <a:buNone/>
            </a:pPr>
            <a:r>
              <a:rPr lang="en-US" sz="137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necesitas estado persistente</a:t>
            </a:r>
            <a:endParaRPr lang="en-US" sz="1370" dirty="0"/>
          </a:p>
          <a:p>
            <a:pPr marL="0" indent="0" algn="l">
              <a:buNone/>
            </a:pPr>
            <a:r>
              <a:rPr lang="en-US" sz="137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integras APIs y herramientas propias</a:t>
            </a:r>
            <a:endParaRPr lang="en-US" sz="1370" dirty="0"/>
          </a:p>
          <a:p>
            <a:pPr marL="0" indent="0" algn="l">
              <a:buNone/>
            </a:pPr>
            <a:r>
              <a:rPr lang="en-US" sz="137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quieres tests y CI/CD</a:t>
            </a:r>
            <a:endParaRPr lang="en-US" sz="1370" dirty="0"/>
          </a:p>
        </p:txBody>
      </p:sp>
      <p:sp>
        <p:nvSpPr>
          <p:cNvPr id="19" name="Shape 17"/>
          <p:cNvSpPr/>
          <p:nvPr/>
        </p:nvSpPr>
        <p:spPr>
          <a:xfrm>
            <a:off x="4160520" y="2880360"/>
            <a:ext cx="914400" cy="0"/>
          </a:xfrm>
          <a:prstGeom prst="line">
            <a:avLst/>
          </a:prstGeom>
          <a:noFill/>
          <a:ln w="16510">
            <a:solidFill>
              <a:srgbClr val="2BD7FF">
                <a:alpha val="90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6062472" y="2880360"/>
            <a:ext cx="996696" cy="0"/>
          </a:xfrm>
          <a:prstGeom prst="line">
            <a:avLst/>
          </a:prstGeom>
          <a:noFill/>
          <a:ln w="16510">
            <a:solidFill>
              <a:srgbClr val="61D59F">
                <a:alpha val="90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5074920" y="2350008"/>
            <a:ext cx="1005840" cy="1051560"/>
          </a:xfrm>
          <a:prstGeom prst="hexagon">
            <a:avLst/>
          </a:prstGeom>
          <a:solidFill>
            <a:srgbClr val="4B45C9"/>
          </a:solidFill>
          <a:ln w="12700">
            <a:solidFill>
              <a:srgbClr val="8C6BFF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YAML/visual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011680" y="4983480"/>
            <a:ext cx="8229600" cy="868680"/>
          </a:xfrm>
          <a:prstGeom prst="roundRect">
            <a:avLst/>
          </a:prstGeom>
          <a:solidFill>
            <a:srgbClr val="102341">
              <a:alpha val="92000"/>
            </a:srgbClr>
          </a:solidFill>
          <a:ln w="13970">
            <a:solidFill>
              <a:srgbClr val="8C6BFF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Puente recomendado para el hackathon</a:t>
            </a:r>
            <a:endParaRPr lang="en-US" sz="1350" dirty="0"/>
          </a:p>
          <a:p>
            <a:pPr marL="0" indent="0" algn="ctr">
              <a:buNone/>
            </a:pP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Empieza con prompt agents y workflows. Cuando el caso lo pida, encapsula la lógica en Python con Agent Framework y conserva Foundry para despliegue, herramientas y operación.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4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6"/>
          </a:solidFill>
          <a:ln w="12700">
            <a:solidFill>
              <a:srgbClr val="0714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D7FF"/>
          </a:solidFill>
          <a:ln w="12700">
            <a:solidFill>
              <a:srgbClr val="2BD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8C6BFF"/>
          </a:solidFill>
          <a:ln w="12700">
            <a:solidFill>
              <a:srgbClr val="8C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2700">
            <a:solidFill>
              <a:srgbClr val="152D5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30352" y="6556248"/>
            <a:ext cx="79370" cy="79370"/>
          </a:xfrm>
          <a:prstGeom prst="roundRect">
            <a:avLst/>
          </a:prstGeom>
          <a:solidFill>
            <a:srgbClr val="7BD83D"/>
          </a:solidFill>
          <a:ln w="12700">
            <a:solidFill>
              <a:srgbClr val="7BD8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640903" y="6556248"/>
            <a:ext cx="79370" cy="79370"/>
          </a:xfrm>
          <a:prstGeom prst="roundRect">
            <a:avLst/>
          </a:prstGeom>
          <a:solidFill>
            <a:srgbClr val="2BC4C9"/>
          </a:solidFill>
          <a:ln w="12700">
            <a:solidFill>
              <a:srgbClr val="2BC4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30352" y="6666799"/>
            <a:ext cx="79370" cy="79370"/>
          </a:xfrm>
          <a:prstGeom prst="roundRect">
            <a:avLst/>
          </a:prstGeom>
          <a:solidFill>
            <a:srgbClr val="2BC4C9"/>
          </a:solidFill>
          <a:ln w="12700">
            <a:solidFill>
              <a:srgbClr val="2BC4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640903" y="6666799"/>
            <a:ext cx="79370" cy="79370"/>
          </a:xfrm>
          <a:prstGeom prst="roundRect">
            <a:avLst/>
          </a:prstGeom>
          <a:solidFill>
            <a:srgbClr val="7BD83D"/>
          </a:solidFill>
          <a:ln w="12700">
            <a:solidFill>
              <a:srgbClr val="7BD8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68462" y="6550579"/>
            <a:ext cx="510235" cy="79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6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Dataging</a:t>
            </a:r>
            <a:endParaRPr lang="en-US" sz="546" dirty="0"/>
          </a:p>
        </p:txBody>
      </p:sp>
      <p:sp>
        <p:nvSpPr>
          <p:cNvPr id="11" name="Text 9"/>
          <p:cNvSpPr/>
          <p:nvPr/>
        </p:nvSpPr>
        <p:spPr>
          <a:xfrm>
            <a:off x="768462" y="6652626"/>
            <a:ext cx="737006" cy="68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9" dirty="0">
                <a:solidFill>
                  <a:srgbClr val="2B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Managing through data</a:t>
            </a:r>
            <a:endParaRPr lang="en-US" sz="279" dirty="0"/>
          </a:p>
        </p:txBody>
      </p:sp>
      <p:sp>
        <p:nvSpPr>
          <p:cNvPr id="12" name="Text 10"/>
          <p:cNvSpPr/>
          <p:nvPr/>
        </p:nvSpPr>
        <p:spPr>
          <a:xfrm>
            <a:off x="1572768" y="6565392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FA2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AI Chapter Coruña · FraSoHome · Microsoft Foundry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607040" y="654710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A2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/ 20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915400" y="329184"/>
            <a:ext cx="2423160" cy="310896"/>
          </a:xfrm>
          <a:prstGeom prst="roundRect">
            <a:avLst/>
          </a:prstGeom>
          <a:solidFill>
            <a:srgbClr val="102341">
              <a:alpha val="85000"/>
            </a:srgbClr>
          </a:solidFill>
          <a:ln w="7620">
            <a:solidFill>
              <a:srgbClr val="2BD7FF">
                <a:alpha val="6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FD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divulgativa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66928" y="50292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de 60 minutos: historia de negocio</a:t>
            </a:r>
            <a:endParaRPr lang="en-US" sz="2900" dirty="0"/>
          </a:p>
        </p:txBody>
      </p:sp>
      <p:sp>
        <p:nvSpPr>
          <p:cNvPr id="16" name="Text 14"/>
          <p:cNvSpPr/>
          <p:nvPr/>
        </p:nvSpPr>
        <p:spPr>
          <a:xfrm>
            <a:off x="566928" y="1024128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FD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escenas para que la audiencia entienda el valor sin perderse en SDKs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77240" y="1645920"/>
            <a:ext cx="3063240" cy="2743200"/>
          </a:xfrm>
          <a:prstGeom prst="roundRect">
            <a:avLst/>
          </a:prstGeom>
          <a:solidFill>
            <a:srgbClr val="152D52">
              <a:alpha val="92000"/>
            </a:srgbClr>
          </a:solidFill>
          <a:ln w="13970">
            <a:solidFill>
              <a:srgbClr val="2BD7FF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Escena 1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“Preguntamos a FraSoHome”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Q&amp;A grounded sobre documentos y políticas.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51960" y="1645920"/>
            <a:ext cx="3063240" cy="2743200"/>
          </a:xfrm>
          <a:prstGeom prst="roundRect">
            <a:avLst/>
          </a:prstGeom>
          <a:solidFill>
            <a:srgbClr val="152D52">
              <a:alpha val="92000"/>
            </a:srgbClr>
          </a:solidFill>
          <a:ln w="13970">
            <a:solidFill>
              <a:srgbClr val="61D59F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Escena 2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“Miramos los datos”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agente analiza CSVs y genera un reporte de calidad.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26680" y="1645920"/>
            <a:ext cx="3063240" cy="2743200"/>
          </a:xfrm>
          <a:prstGeom prst="roundRect">
            <a:avLst/>
          </a:prstGeom>
          <a:solidFill>
            <a:srgbClr val="152D52">
              <a:alpha val="92000"/>
            </a:srgbClr>
          </a:solidFill>
          <a:ln w="13970">
            <a:solidFill>
              <a:srgbClr val="8C6BFF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Escena 3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“Orquestamos especialistas”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Router + agentes + síntesis con acción recomendada.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5349240"/>
            <a:ext cx="9784080" cy="457200"/>
          </a:xfrm>
          <a:prstGeom prst="roundRect">
            <a:avLst/>
          </a:prstGeom>
          <a:solidFill>
            <a:srgbClr val="102341">
              <a:alpha val="92000"/>
            </a:srgbClr>
          </a:solidFill>
          <a:ln w="13970">
            <a:solidFill>
              <a:srgbClr val="FFC85A">
                <a:alpha val="7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demo no intenta probar que “la IA lo hace todo”: prueba que un sistema bien diseñado reduce fricción, mejora trazabilidad y produce decisiones accionables.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5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6"/>
          </a:solidFill>
          <a:ln w="12700">
            <a:solidFill>
              <a:srgbClr val="0714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D7FF"/>
          </a:solidFill>
          <a:ln w="12700">
            <a:solidFill>
              <a:srgbClr val="2BD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8C6BFF"/>
          </a:solidFill>
          <a:ln w="12700">
            <a:solidFill>
              <a:srgbClr val="8C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2700">
            <a:solidFill>
              <a:srgbClr val="152D5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30352" y="6556248"/>
            <a:ext cx="79370" cy="79370"/>
          </a:xfrm>
          <a:prstGeom prst="roundRect">
            <a:avLst/>
          </a:prstGeom>
          <a:solidFill>
            <a:srgbClr val="7BD83D"/>
          </a:solidFill>
          <a:ln w="12700">
            <a:solidFill>
              <a:srgbClr val="7BD8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640903" y="6556248"/>
            <a:ext cx="79370" cy="79370"/>
          </a:xfrm>
          <a:prstGeom prst="roundRect">
            <a:avLst/>
          </a:prstGeom>
          <a:solidFill>
            <a:srgbClr val="2BC4C9"/>
          </a:solidFill>
          <a:ln w="12700">
            <a:solidFill>
              <a:srgbClr val="2BC4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30352" y="6666799"/>
            <a:ext cx="79370" cy="79370"/>
          </a:xfrm>
          <a:prstGeom prst="roundRect">
            <a:avLst/>
          </a:prstGeom>
          <a:solidFill>
            <a:srgbClr val="2BC4C9"/>
          </a:solidFill>
          <a:ln w="12700">
            <a:solidFill>
              <a:srgbClr val="2BC4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640903" y="6666799"/>
            <a:ext cx="79370" cy="79370"/>
          </a:xfrm>
          <a:prstGeom prst="roundRect">
            <a:avLst/>
          </a:prstGeom>
          <a:solidFill>
            <a:srgbClr val="7BD83D"/>
          </a:solidFill>
          <a:ln w="12700">
            <a:solidFill>
              <a:srgbClr val="7BD8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68462" y="6550579"/>
            <a:ext cx="510235" cy="79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6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Dataging</a:t>
            </a:r>
            <a:endParaRPr lang="en-US" sz="546" dirty="0"/>
          </a:p>
        </p:txBody>
      </p:sp>
      <p:sp>
        <p:nvSpPr>
          <p:cNvPr id="11" name="Text 9"/>
          <p:cNvSpPr/>
          <p:nvPr/>
        </p:nvSpPr>
        <p:spPr>
          <a:xfrm>
            <a:off x="768462" y="6652626"/>
            <a:ext cx="737006" cy="68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9" dirty="0">
                <a:solidFill>
                  <a:srgbClr val="2B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Managing through data</a:t>
            </a:r>
            <a:endParaRPr lang="en-US" sz="279" dirty="0"/>
          </a:p>
        </p:txBody>
      </p:sp>
      <p:sp>
        <p:nvSpPr>
          <p:cNvPr id="12" name="Text 10"/>
          <p:cNvSpPr/>
          <p:nvPr/>
        </p:nvSpPr>
        <p:spPr>
          <a:xfrm>
            <a:off x="1572768" y="6565392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FA2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AI Chapter Coruña · FraSoHome · Microsoft Foundry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607040" y="654710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A2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/ 20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915400" y="329184"/>
            <a:ext cx="2423160" cy="310896"/>
          </a:xfrm>
          <a:prstGeom prst="roundRect">
            <a:avLst/>
          </a:prstGeom>
          <a:solidFill>
            <a:srgbClr val="102341">
              <a:alpha val="85000"/>
            </a:srgbClr>
          </a:solidFill>
          <a:ln w="7620">
            <a:solidFill>
              <a:srgbClr val="2BD7FF">
                <a:alpha val="6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FD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1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66928" y="50292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1 · Agente de conocimiento</a:t>
            </a:r>
            <a:endParaRPr lang="en-US" sz="2900" dirty="0"/>
          </a:p>
        </p:txBody>
      </p:sp>
      <p:sp>
        <p:nvSpPr>
          <p:cNvPr id="16" name="Text 14"/>
          <p:cNvSpPr/>
          <p:nvPr/>
        </p:nvSpPr>
        <p:spPr>
          <a:xfrm>
            <a:off x="566928" y="1024128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FD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pregunta de negocio respondida con documentos, no con memoria del modelo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77240" y="1554480"/>
            <a:ext cx="3840480" cy="2011680"/>
          </a:xfrm>
          <a:prstGeom prst="roundRect">
            <a:avLst/>
          </a:prstGeom>
          <a:solidFill>
            <a:srgbClr val="152D52">
              <a:alpha val="92000"/>
            </a:srgbClr>
          </a:solidFill>
          <a:ln w="13970">
            <a:solidFill>
              <a:srgbClr val="2BD7FF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de ejemplo</a:t>
            </a:r>
            <a:endParaRPr lang="en-US" sz="1320" dirty="0"/>
          </a:p>
          <a:p>
            <a:pPr marL="0" indent="0" algn="l">
              <a:buNone/>
            </a:pPr>
            <a:endParaRPr lang="en-US" sz="1320" dirty="0"/>
          </a:p>
          <a:p>
            <a:pPr marL="0" indent="0" algn="l">
              <a:buNone/>
            </a:pPr>
            <a:r>
              <a:rPr lang="en-US" sz="132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“Un cliente compró un sofá online, quiere devolverlo en tienda y usó un cupón. ¿Qué pasos debe seguir atención al cliente?”</a:t>
            </a:r>
            <a:endParaRPr lang="en-US" sz="1320" dirty="0"/>
          </a:p>
        </p:txBody>
      </p:sp>
      <p:sp>
        <p:nvSpPr>
          <p:cNvPr id="18" name="Shape 16"/>
          <p:cNvSpPr/>
          <p:nvPr/>
        </p:nvSpPr>
        <p:spPr>
          <a:xfrm>
            <a:off x="4754880" y="2560320"/>
            <a:ext cx="822960" cy="0"/>
          </a:xfrm>
          <a:prstGeom prst="line">
            <a:avLst/>
          </a:prstGeom>
          <a:noFill/>
          <a:ln w="15240">
            <a:solidFill>
              <a:srgbClr val="2BD7FF">
                <a:alpha val="80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715000" y="1554480"/>
            <a:ext cx="2743200" cy="2011680"/>
          </a:xfrm>
          <a:prstGeom prst="roundRect">
            <a:avLst/>
          </a:prstGeom>
          <a:solidFill>
            <a:srgbClr val="4B45C9">
              <a:alpha val="92000"/>
            </a:srgbClr>
          </a:solidFill>
          <a:ln w="13970">
            <a:solidFill>
              <a:srgbClr val="8C6BFF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Agente Knowledge</a:t>
            </a:r>
            <a:endParaRPr lang="en-US" sz="1320" dirty="0"/>
          </a:p>
          <a:p>
            <a:pPr marL="0" indent="0" algn="l">
              <a:buNone/>
            </a:pPr>
            <a:endParaRPr lang="en-US" sz="1320" dirty="0"/>
          </a:p>
          <a:p>
            <a:pPr marL="0" indent="0" algn="l">
              <a:buNone/>
            </a:pPr>
            <a:r>
              <a:rPr lang="en-US" sz="132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Busca política aplicable</a:t>
            </a:r>
            <a:endParaRPr lang="en-US" sz="1320" dirty="0"/>
          </a:p>
          <a:p>
            <a:pPr marL="0" indent="0" algn="l">
              <a:buNone/>
            </a:pPr>
            <a:r>
              <a:rPr lang="en-US" sz="132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Detecta excepciones</a:t>
            </a:r>
            <a:endParaRPr lang="en-US" sz="1320" dirty="0"/>
          </a:p>
          <a:p>
            <a:pPr marL="0" indent="0" algn="l">
              <a:buNone/>
            </a:pPr>
            <a:r>
              <a:rPr lang="en-US" sz="132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Devuelve respuesta con evidencia</a:t>
            </a:r>
            <a:endParaRPr lang="en-US" sz="1320" dirty="0"/>
          </a:p>
          <a:p>
            <a:pPr marL="0" indent="0" algn="l">
              <a:buNone/>
            </a:pPr>
            <a:r>
              <a:rPr lang="en-US" sz="132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Marca incertidumbre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8549640" y="2560320"/>
            <a:ext cx="685800" cy="0"/>
          </a:xfrm>
          <a:prstGeom prst="line">
            <a:avLst/>
          </a:prstGeom>
          <a:noFill/>
          <a:ln w="15240">
            <a:solidFill>
              <a:srgbClr val="8C6BFF">
                <a:alpha val="80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9372600" y="1554480"/>
            <a:ext cx="2240280" cy="2011680"/>
          </a:xfrm>
          <a:prstGeom prst="roundRect">
            <a:avLst/>
          </a:prstGeom>
          <a:solidFill>
            <a:srgbClr val="152D52">
              <a:alpha val="92000"/>
            </a:srgbClr>
          </a:solidFill>
          <a:ln w="13970">
            <a:solidFill>
              <a:srgbClr val="61D59F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Salida esperada</a:t>
            </a:r>
            <a:endParaRPr lang="en-US" sz="1320" dirty="0"/>
          </a:p>
          <a:p>
            <a:pPr marL="0" indent="0" algn="ctr">
              <a:buNone/>
            </a:pPr>
            <a:endParaRPr lang="en-US" sz="1320" dirty="0"/>
          </a:p>
          <a:p>
            <a:pPr marL="0" indent="0" algn="ctr">
              <a:buNone/>
            </a:pPr>
            <a:r>
              <a:rPr lang="en-US" sz="132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Respuesta breve, pasos operativos y advertencia si falta dato crítico.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1371600" y="4709160"/>
            <a:ext cx="9326880" cy="914400"/>
          </a:xfrm>
          <a:prstGeom prst="roundRect">
            <a:avLst/>
          </a:prstGeom>
          <a:solidFill>
            <a:srgbClr val="102341">
              <a:alpha val="92000"/>
            </a:srgbClr>
          </a:solidFill>
          <a:ln w="13970">
            <a:solidFill>
              <a:srgbClr val="FFC85A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42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 para la audiencia</a:t>
            </a:r>
            <a:endParaRPr lang="en-US" sz="1420" dirty="0"/>
          </a:p>
          <a:p>
            <a:pPr marL="0" indent="0" algn="ctr">
              <a:buNone/>
            </a:pPr>
            <a:endParaRPr lang="en-US" sz="1420" dirty="0"/>
          </a:p>
          <a:p>
            <a:pPr marL="0" indent="0" algn="ctr">
              <a:buNone/>
            </a:pPr>
            <a:r>
              <a:rPr lang="en-US" sz="142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Esto no sustituye la política: la hace accesible, trazable y accionable para equipos de atención al cliente.</a:t>
            </a:r>
            <a:endParaRPr lang="en-US" sz="14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6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6"/>
          </a:solidFill>
          <a:ln w="12700">
            <a:solidFill>
              <a:srgbClr val="0714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D7FF"/>
          </a:solidFill>
          <a:ln w="12700">
            <a:solidFill>
              <a:srgbClr val="2BD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8C6BFF"/>
          </a:solidFill>
          <a:ln w="12700">
            <a:solidFill>
              <a:srgbClr val="8C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2700">
            <a:solidFill>
              <a:srgbClr val="152D5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30352" y="6556248"/>
            <a:ext cx="79370" cy="79370"/>
          </a:xfrm>
          <a:prstGeom prst="roundRect">
            <a:avLst/>
          </a:prstGeom>
          <a:solidFill>
            <a:srgbClr val="7BD83D"/>
          </a:solidFill>
          <a:ln w="12700">
            <a:solidFill>
              <a:srgbClr val="7BD8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640903" y="6556248"/>
            <a:ext cx="79370" cy="79370"/>
          </a:xfrm>
          <a:prstGeom prst="roundRect">
            <a:avLst/>
          </a:prstGeom>
          <a:solidFill>
            <a:srgbClr val="2BC4C9"/>
          </a:solidFill>
          <a:ln w="12700">
            <a:solidFill>
              <a:srgbClr val="2BC4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30352" y="6666799"/>
            <a:ext cx="79370" cy="79370"/>
          </a:xfrm>
          <a:prstGeom prst="roundRect">
            <a:avLst/>
          </a:prstGeom>
          <a:solidFill>
            <a:srgbClr val="2BC4C9"/>
          </a:solidFill>
          <a:ln w="12700">
            <a:solidFill>
              <a:srgbClr val="2BC4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640903" y="6666799"/>
            <a:ext cx="79370" cy="79370"/>
          </a:xfrm>
          <a:prstGeom prst="roundRect">
            <a:avLst/>
          </a:prstGeom>
          <a:solidFill>
            <a:srgbClr val="7BD83D"/>
          </a:solidFill>
          <a:ln w="12700">
            <a:solidFill>
              <a:srgbClr val="7BD8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68462" y="6550579"/>
            <a:ext cx="510235" cy="79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6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Dataging</a:t>
            </a:r>
            <a:endParaRPr lang="en-US" sz="546" dirty="0"/>
          </a:p>
        </p:txBody>
      </p:sp>
      <p:sp>
        <p:nvSpPr>
          <p:cNvPr id="11" name="Text 9"/>
          <p:cNvSpPr/>
          <p:nvPr/>
        </p:nvSpPr>
        <p:spPr>
          <a:xfrm>
            <a:off x="768462" y="6652626"/>
            <a:ext cx="737006" cy="68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9" dirty="0">
                <a:solidFill>
                  <a:srgbClr val="2B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Managing through data</a:t>
            </a:r>
            <a:endParaRPr lang="en-US" sz="279" dirty="0"/>
          </a:p>
        </p:txBody>
      </p:sp>
      <p:sp>
        <p:nvSpPr>
          <p:cNvPr id="12" name="Text 10"/>
          <p:cNvSpPr/>
          <p:nvPr/>
        </p:nvSpPr>
        <p:spPr>
          <a:xfrm>
            <a:off x="1572768" y="6565392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FA2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AI Chapter Coruña · FraSoHome · Microsoft Foundry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607040" y="654710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A2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/ 20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915400" y="329184"/>
            <a:ext cx="2423160" cy="310896"/>
          </a:xfrm>
          <a:prstGeom prst="roundRect">
            <a:avLst/>
          </a:prstGeom>
          <a:solidFill>
            <a:srgbClr val="102341">
              <a:alpha val="85000"/>
            </a:srgbClr>
          </a:solidFill>
          <a:ln w="7620">
            <a:solidFill>
              <a:srgbClr val="2BD7FF">
                <a:alpha val="6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FD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66928" y="50292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2 · Calidad de datos con CSVs</a:t>
            </a:r>
            <a:endParaRPr lang="en-US" sz="2900" dirty="0"/>
          </a:p>
        </p:txBody>
      </p:sp>
      <p:sp>
        <p:nvSpPr>
          <p:cNvPr id="16" name="Text 14"/>
          <p:cNvSpPr/>
          <p:nvPr/>
        </p:nvSpPr>
        <p:spPr>
          <a:xfrm>
            <a:off x="566928" y="1024128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FD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agente que convierte datos desordenados en un diagnóstico entendible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77240" y="1508760"/>
            <a:ext cx="2286000" cy="1508760"/>
          </a:xfrm>
          <a:prstGeom prst="roundRect">
            <a:avLst/>
          </a:prstGeom>
          <a:solidFill>
            <a:srgbClr val="152D52">
              <a:alpha val="92000"/>
            </a:srgbClr>
          </a:solidFill>
          <a:ln w="13970">
            <a:solidFill>
              <a:srgbClr val="2BD7FF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Archivos FraSoHome</a:t>
            </a:r>
            <a:endParaRPr lang="en-US" sz="1320" dirty="0"/>
          </a:p>
          <a:p>
            <a:pPr marL="0" indent="0" algn="ctr">
              <a:buNone/>
            </a:pPr>
            <a:endParaRPr lang="en-US" sz="1320" dirty="0"/>
          </a:p>
          <a:p>
            <a:pPr marL="0" indent="0" algn="ctr">
              <a:buNone/>
            </a:pPr>
            <a:r>
              <a:rPr lang="en-US" sz="132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CRM · pedidos · líneas · devoluciones · POS · stock · productos</a:t>
            </a:r>
            <a:endParaRPr lang="en-US" sz="1320" dirty="0"/>
          </a:p>
        </p:txBody>
      </p:sp>
      <p:sp>
        <p:nvSpPr>
          <p:cNvPr id="18" name="Shape 16"/>
          <p:cNvSpPr/>
          <p:nvPr/>
        </p:nvSpPr>
        <p:spPr>
          <a:xfrm>
            <a:off x="3154680" y="2240280"/>
            <a:ext cx="685800" cy="0"/>
          </a:xfrm>
          <a:prstGeom prst="line">
            <a:avLst/>
          </a:prstGeom>
          <a:noFill/>
          <a:ln w="12700">
            <a:solidFill>
              <a:srgbClr val="2BD7FF">
                <a:alpha val="80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3931920" y="1508760"/>
            <a:ext cx="2468880" cy="2560320"/>
          </a:xfrm>
          <a:prstGeom prst="roundRect">
            <a:avLst/>
          </a:prstGeom>
          <a:solidFill>
            <a:srgbClr val="4B45C9">
              <a:alpha val="92000"/>
            </a:srgbClr>
          </a:solidFill>
          <a:ln w="13970">
            <a:solidFill>
              <a:srgbClr val="8C6BFF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36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Interpreter</a:t>
            </a:r>
            <a:endParaRPr lang="en-US" sz="1360" dirty="0"/>
          </a:p>
          <a:p>
            <a:pPr marL="0" indent="0" algn="ctr">
              <a:buNone/>
            </a:pPr>
            <a:endParaRPr lang="en-US" sz="1360" dirty="0"/>
          </a:p>
          <a:p>
            <a:pPr marL="0" indent="0" algn="ctr">
              <a:buNone/>
            </a:pPr>
            <a:r>
              <a:rPr lang="en-US" sz="136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Lee CSVs</a:t>
            </a:r>
            <a:endParaRPr lang="en-US" sz="1360" dirty="0"/>
          </a:p>
          <a:p>
            <a:pPr marL="0" indent="0" algn="ctr">
              <a:buNone/>
            </a:pPr>
            <a:r>
              <a:rPr lang="en-US" sz="136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Perfila datos</a:t>
            </a:r>
            <a:endParaRPr lang="en-US" sz="1360" dirty="0"/>
          </a:p>
          <a:p>
            <a:pPr marL="0" indent="0" algn="ctr">
              <a:buNone/>
            </a:pPr>
            <a:r>
              <a:rPr lang="en-US" sz="136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Detecta anomalías</a:t>
            </a:r>
            <a:endParaRPr lang="en-US" sz="1360" dirty="0"/>
          </a:p>
          <a:p>
            <a:pPr marL="0" indent="0" algn="ctr">
              <a:buNone/>
            </a:pPr>
            <a:r>
              <a:rPr lang="en-US" sz="136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Sugiere limpieza</a:t>
            </a:r>
            <a:endParaRPr lang="en-US" sz="1360" dirty="0"/>
          </a:p>
          <a:p>
            <a:pPr marL="0" indent="0" algn="ctr">
              <a:buNone/>
            </a:pPr>
            <a:r>
              <a:rPr lang="en-US" sz="136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Resume impacto</a:t>
            </a:r>
            <a:endParaRPr lang="en-US" sz="1360" dirty="0"/>
          </a:p>
        </p:txBody>
      </p:sp>
      <p:sp>
        <p:nvSpPr>
          <p:cNvPr id="20" name="Shape 18"/>
          <p:cNvSpPr/>
          <p:nvPr/>
        </p:nvSpPr>
        <p:spPr>
          <a:xfrm>
            <a:off x="6492240" y="2240280"/>
            <a:ext cx="685800" cy="0"/>
          </a:xfrm>
          <a:prstGeom prst="line">
            <a:avLst/>
          </a:prstGeom>
          <a:noFill/>
          <a:ln w="12700">
            <a:solidFill>
              <a:srgbClr val="8C6BFF">
                <a:alpha val="80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7269480" y="1417320"/>
            <a:ext cx="4023360" cy="457200"/>
          </a:xfrm>
          <a:prstGeom prst="roundRect">
            <a:avLst/>
          </a:prstGeom>
          <a:solidFill>
            <a:srgbClr val="152D52">
              <a:alpha val="92000"/>
            </a:srgbClr>
          </a:solidFill>
          <a:ln w="13970">
            <a:solidFill>
              <a:srgbClr val="61D59F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Quality Report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269480" y="2029968"/>
            <a:ext cx="1143000" cy="749808"/>
          </a:xfrm>
          <a:prstGeom prst="roundRect">
            <a:avLst/>
          </a:prstGeom>
          <a:solidFill>
            <a:srgbClr val="152D52">
              <a:alpha val="92000"/>
            </a:srgbClr>
          </a:solidFill>
          <a:ln w="13970">
            <a:solidFill>
              <a:srgbClr val="FFC85A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Nulos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14%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549640" y="2029968"/>
            <a:ext cx="1143000" cy="749808"/>
          </a:xfrm>
          <a:prstGeom prst="roundRect">
            <a:avLst/>
          </a:prstGeom>
          <a:solidFill>
            <a:srgbClr val="152D52">
              <a:alpha val="92000"/>
            </a:srgbClr>
          </a:solidFill>
          <a:ln w="13970">
            <a:solidFill>
              <a:srgbClr val="FF7676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Duplicados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2.1%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829800" y="2029968"/>
            <a:ext cx="1143000" cy="749808"/>
          </a:xfrm>
          <a:prstGeom prst="roundRect">
            <a:avLst/>
          </a:prstGeom>
          <a:solidFill>
            <a:srgbClr val="152D52">
              <a:alpha val="92000"/>
            </a:srgbClr>
          </a:solidFill>
          <a:ln w="13970">
            <a:solidFill>
              <a:srgbClr val="2BD7FF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SKUs sin mapa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543800" y="4251960"/>
            <a:ext cx="3291840" cy="0"/>
          </a:xfrm>
          <a:prstGeom prst="line">
            <a:avLst/>
          </a:prstGeom>
          <a:noFill/>
          <a:ln w="10160">
            <a:solidFill>
              <a:srgbClr val="7FA2D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7772400" y="3566160"/>
            <a:ext cx="301752" cy="685800"/>
          </a:xfrm>
          <a:prstGeom prst="rect">
            <a:avLst/>
          </a:prstGeom>
          <a:solidFill>
            <a:srgbClr val="2BD7FF">
              <a:alpha val="95000"/>
            </a:srgbClr>
          </a:solidFill>
          <a:ln w="12700">
            <a:solidFill>
              <a:srgbClr val="0714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7680960" y="4343400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FD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CRM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8339328" y="3200400"/>
            <a:ext cx="301752" cy="1051560"/>
          </a:xfrm>
          <a:prstGeom prst="rect">
            <a:avLst/>
          </a:prstGeom>
          <a:solidFill>
            <a:srgbClr val="8C6BFF">
              <a:alpha val="95000"/>
            </a:srgbClr>
          </a:solidFill>
          <a:ln w="12700">
            <a:solidFill>
              <a:srgbClr val="0714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8247888" y="4343400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FD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8906256" y="3840480"/>
            <a:ext cx="301752" cy="411480"/>
          </a:xfrm>
          <a:prstGeom prst="rect">
            <a:avLst/>
          </a:prstGeom>
          <a:solidFill>
            <a:srgbClr val="61D59F">
              <a:alpha val="95000"/>
            </a:srgbClr>
          </a:solidFill>
          <a:ln w="12700">
            <a:solidFill>
              <a:srgbClr val="0714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8814816" y="4343400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FD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9473184" y="3429000"/>
            <a:ext cx="301752" cy="822960"/>
          </a:xfrm>
          <a:prstGeom prst="rect">
            <a:avLst/>
          </a:prstGeom>
          <a:solidFill>
            <a:srgbClr val="FFC85A">
              <a:alpha val="95000"/>
            </a:srgbClr>
          </a:solidFill>
          <a:ln w="12700">
            <a:solidFill>
              <a:srgbClr val="0714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9381744" y="4343400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FD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0040112" y="3017520"/>
            <a:ext cx="301752" cy="1234440"/>
          </a:xfrm>
          <a:prstGeom prst="rect">
            <a:avLst/>
          </a:prstGeom>
          <a:solidFill>
            <a:srgbClr val="FF7676">
              <a:alpha val="95000"/>
            </a:srgbClr>
          </a:solidFill>
          <a:ln w="12700">
            <a:solidFill>
              <a:srgbClr val="0714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9948672" y="4343400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FD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234440" y="4983480"/>
            <a:ext cx="9784080" cy="822960"/>
          </a:xfrm>
          <a:prstGeom prst="roundRect">
            <a:avLst/>
          </a:prstGeom>
          <a:solidFill>
            <a:srgbClr val="102341">
              <a:alpha val="92000"/>
            </a:srgbClr>
          </a:solidFill>
          <a:ln w="13970">
            <a:solidFill>
              <a:srgbClr val="61D59F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de demo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“Ahora ya tenemos una lista priorizada de problemas antes de construir features o dashboards.”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7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6"/>
          </a:solidFill>
          <a:ln w="12700">
            <a:solidFill>
              <a:srgbClr val="0714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D7FF"/>
          </a:solidFill>
          <a:ln w="12700">
            <a:solidFill>
              <a:srgbClr val="2BD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8C6BFF"/>
          </a:solidFill>
          <a:ln w="12700">
            <a:solidFill>
              <a:srgbClr val="8C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2700">
            <a:solidFill>
              <a:srgbClr val="152D5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30352" y="6556248"/>
            <a:ext cx="79370" cy="79370"/>
          </a:xfrm>
          <a:prstGeom prst="roundRect">
            <a:avLst/>
          </a:prstGeom>
          <a:solidFill>
            <a:srgbClr val="7BD83D"/>
          </a:solidFill>
          <a:ln w="12700">
            <a:solidFill>
              <a:srgbClr val="7BD8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640903" y="6556248"/>
            <a:ext cx="79370" cy="79370"/>
          </a:xfrm>
          <a:prstGeom prst="roundRect">
            <a:avLst/>
          </a:prstGeom>
          <a:solidFill>
            <a:srgbClr val="2BC4C9"/>
          </a:solidFill>
          <a:ln w="12700">
            <a:solidFill>
              <a:srgbClr val="2BC4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30352" y="6666799"/>
            <a:ext cx="79370" cy="79370"/>
          </a:xfrm>
          <a:prstGeom prst="roundRect">
            <a:avLst/>
          </a:prstGeom>
          <a:solidFill>
            <a:srgbClr val="2BC4C9"/>
          </a:solidFill>
          <a:ln w="12700">
            <a:solidFill>
              <a:srgbClr val="2BC4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640903" y="6666799"/>
            <a:ext cx="79370" cy="79370"/>
          </a:xfrm>
          <a:prstGeom prst="roundRect">
            <a:avLst/>
          </a:prstGeom>
          <a:solidFill>
            <a:srgbClr val="7BD83D"/>
          </a:solidFill>
          <a:ln w="12700">
            <a:solidFill>
              <a:srgbClr val="7BD8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68462" y="6550579"/>
            <a:ext cx="510235" cy="79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6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Dataging</a:t>
            </a:r>
            <a:endParaRPr lang="en-US" sz="546" dirty="0"/>
          </a:p>
        </p:txBody>
      </p:sp>
      <p:sp>
        <p:nvSpPr>
          <p:cNvPr id="11" name="Text 9"/>
          <p:cNvSpPr/>
          <p:nvPr/>
        </p:nvSpPr>
        <p:spPr>
          <a:xfrm>
            <a:off x="768462" y="6652626"/>
            <a:ext cx="737006" cy="68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9" dirty="0">
                <a:solidFill>
                  <a:srgbClr val="2B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Managing through data</a:t>
            </a:r>
            <a:endParaRPr lang="en-US" sz="279" dirty="0"/>
          </a:p>
        </p:txBody>
      </p:sp>
      <p:sp>
        <p:nvSpPr>
          <p:cNvPr id="12" name="Text 10"/>
          <p:cNvSpPr/>
          <p:nvPr/>
        </p:nvSpPr>
        <p:spPr>
          <a:xfrm>
            <a:off x="1572768" y="6565392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FA2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AI Chapter Coruña · FraSoHome · Microsoft Foundry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607040" y="654710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A2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 / 20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915400" y="329184"/>
            <a:ext cx="2423160" cy="310896"/>
          </a:xfrm>
          <a:prstGeom prst="roundRect">
            <a:avLst/>
          </a:prstGeom>
          <a:solidFill>
            <a:srgbClr val="102341">
              <a:alpha val="85000"/>
            </a:srgbClr>
          </a:solidFill>
          <a:ln w="7620">
            <a:solidFill>
              <a:srgbClr val="2BD7FF">
                <a:alpha val="6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FD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3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66928" y="50292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3 · Multiagente en acción</a:t>
            </a:r>
            <a:endParaRPr lang="en-US" sz="2900" dirty="0"/>
          </a:p>
        </p:txBody>
      </p:sp>
      <p:sp>
        <p:nvSpPr>
          <p:cNvPr id="16" name="Text 14"/>
          <p:cNvSpPr/>
          <p:nvPr/>
        </p:nvSpPr>
        <p:spPr>
          <a:xfrm>
            <a:off x="566928" y="1024128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FD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pregunta ambigua se reparte entre especialistas y vuelve como una decisión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31520" y="1645920"/>
            <a:ext cx="2834640" cy="1508760"/>
          </a:xfrm>
          <a:prstGeom prst="roundRect">
            <a:avLst/>
          </a:prstGeom>
          <a:solidFill>
            <a:srgbClr val="152D52">
              <a:alpha val="92000"/>
            </a:srgbClr>
          </a:solidFill>
          <a:ln w="13970">
            <a:solidFill>
              <a:srgbClr val="2BD7FF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33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</a:t>
            </a:r>
            <a:endParaRPr lang="en-US" sz="1330" dirty="0"/>
          </a:p>
          <a:p>
            <a:pPr marL="0" indent="0" algn="ctr">
              <a:buNone/>
            </a:pPr>
            <a:endParaRPr lang="en-US" sz="1330" dirty="0"/>
          </a:p>
          <a:p>
            <a:pPr marL="0" indent="0" algn="ctr">
              <a:buNone/>
            </a:pPr>
            <a:r>
              <a:rPr lang="en-US" sz="133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“¿Por qué están subiendo las devoluciones online en iluminación y qué haríamos esta semana?”</a:t>
            </a:r>
            <a:endParaRPr lang="en-US" sz="1330" dirty="0"/>
          </a:p>
        </p:txBody>
      </p:sp>
      <p:sp>
        <p:nvSpPr>
          <p:cNvPr id="18" name="Shape 16"/>
          <p:cNvSpPr/>
          <p:nvPr/>
        </p:nvSpPr>
        <p:spPr>
          <a:xfrm>
            <a:off x="3611880" y="2395728"/>
            <a:ext cx="685800" cy="0"/>
          </a:xfrm>
          <a:prstGeom prst="line">
            <a:avLst/>
          </a:prstGeom>
          <a:noFill/>
          <a:ln w="12700">
            <a:solidFill>
              <a:srgbClr val="2BD7FF">
                <a:alpha val="80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4389120" y="1645920"/>
            <a:ext cx="1828800" cy="1508760"/>
          </a:xfrm>
          <a:prstGeom prst="roundRect">
            <a:avLst/>
          </a:prstGeom>
          <a:solidFill>
            <a:srgbClr val="4B45C9">
              <a:alpha val="92000"/>
            </a:srgbClr>
          </a:solidFill>
          <a:ln w="13970">
            <a:solidFill>
              <a:srgbClr val="8C6BFF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Router</a:t>
            </a:r>
            <a:endParaRPr lang="en-US" sz="1250" dirty="0"/>
          </a:p>
          <a:p>
            <a:pPr marL="0" indent="0" algn="ctr">
              <a:buNone/>
            </a:pP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Detecta intención: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calidad + operaciones + cliente + devoluciones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303520" y="3200400"/>
            <a:ext cx="0" cy="1143000"/>
          </a:xfrm>
          <a:prstGeom prst="line">
            <a:avLst/>
          </a:prstGeom>
          <a:noFill/>
          <a:ln w="12700">
            <a:solidFill>
              <a:srgbClr val="2BD7FF">
                <a:alpha val="6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5394960" y="3200400"/>
            <a:ext cx="91440" cy="1143000"/>
          </a:xfrm>
          <a:prstGeom prst="line">
            <a:avLst/>
          </a:prstGeom>
          <a:noFill/>
          <a:ln w="12700">
            <a:solidFill>
              <a:srgbClr val="61D59F">
                <a:alpha val="6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5486400" y="3200400"/>
            <a:ext cx="1600200" cy="1143000"/>
          </a:xfrm>
          <a:prstGeom prst="line">
            <a:avLst/>
          </a:prstGeom>
          <a:noFill/>
          <a:ln w="12700">
            <a:solidFill>
              <a:srgbClr val="8C6BFF">
                <a:alpha val="6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3154680" y="4251960"/>
            <a:ext cx="1463040" cy="640080"/>
          </a:xfrm>
          <a:prstGeom prst="roundRect">
            <a:avLst/>
          </a:prstGeom>
          <a:solidFill>
            <a:srgbClr val="152D52">
              <a:alpha val="95000"/>
            </a:srgbClr>
          </a:solidFill>
          <a:ln w="13970">
            <a:solidFill>
              <a:srgbClr val="2BD7FF">
                <a:alpha val="8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Quality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¿dato fiable?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00600" y="4251960"/>
            <a:ext cx="1463040" cy="640080"/>
          </a:xfrm>
          <a:prstGeom prst="roundRect">
            <a:avLst/>
          </a:prstGeom>
          <a:solidFill>
            <a:srgbClr val="152D52">
              <a:alpha val="95000"/>
            </a:srgbClr>
          </a:solidFill>
          <a:ln w="13970">
            <a:solidFill>
              <a:srgbClr val="61D59F">
                <a:alpha val="8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motivos y tasas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46520" y="4251960"/>
            <a:ext cx="1463040" cy="640080"/>
          </a:xfrm>
          <a:prstGeom prst="roundRect">
            <a:avLst/>
          </a:prstGeom>
          <a:solidFill>
            <a:srgbClr val="152D52">
              <a:alpha val="95000"/>
            </a:srgbClr>
          </a:solidFill>
          <a:ln w="13970">
            <a:solidFill>
              <a:srgbClr val="8C6BFF">
                <a:alpha val="8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stock y logística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927848" y="4572000"/>
            <a:ext cx="667512" cy="0"/>
          </a:xfrm>
          <a:prstGeom prst="line">
            <a:avLst/>
          </a:prstGeom>
          <a:noFill/>
          <a:ln w="12700">
            <a:solidFill>
              <a:srgbClr val="8C6BFF">
                <a:alpha val="70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5532120" y="4251960"/>
            <a:ext cx="3063240" cy="0"/>
          </a:xfrm>
          <a:prstGeom prst="line">
            <a:avLst/>
          </a:prstGeom>
          <a:noFill/>
          <a:ln w="12700">
            <a:solidFill>
              <a:srgbClr val="61D59F">
                <a:alpha val="70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26"/>
          <p:cNvSpPr/>
          <p:nvPr/>
        </p:nvSpPr>
        <p:spPr>
          <a:xfrm>
            <a:off x="3886200" y="4251960"/>
            <a:ext cx="4709160" cy="0"/>
          </a:xfrm>
          <a:prstGeom prst="line">
            <a:avLst/>
          </a:prstGeom>
          <a:noFill/>
          <a:ln w="12700">
            <a:solidFill>
              <a:srgbClr val="2BD7FF">
                <a:alpha val="70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8641080" y="2148840"/>
            <a:ext cx="2331720" cy="1417320"/>
          </a:xfrm>
          <a:prstGeom prst="roundRect">
            <a:avLst/>
          </a:prstGeom>
          <a:solidFill>
            <a:srgbClr val="152D52">
              <a:alpha val="92000"/>
            </a:srgbClr>
          </a:solidFill>
          <a:ln w="13970">
            <a:solidFill>
              <a:srgbClr val="FFC85A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31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Storyteller</a:t>
            </a:r>
            <a:endParaRPr lang="en-US" sz="1310" dirty="0"/>
          </a:p>
          <a:p>
            <a:pPr marL="0" indent="0" algn="ctr">
              <a:buNone/>
            </a:pPr>
            <a:endParaRPr lang="en-US" sz="1310" dirty="0"/>
          </a:p>
          <a:p>
            <a:pPr marL="0" indent="0" algn="ctr">
              <a:buNone/>
            </a:pPr>
            <a:r>
              <a:rPr lang="en-US" sz="131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Combina evidencias y genera acción recomendada</a:t>
            </a:r>
            <a:endParaRPr lang="en-US" sz="1310" dirty="0"/>
          </a:p>
        </p:txBody>
      </p:sp>
      <p:sp>
        <p:nvSpPr>
          <p:cNvPr id="30" name="Text 28"/>
          <p:cNvSpPr/>
          <p:nvPr/>
        </p:nvSpPr>
        <p:spPr>
          <a:xfrm>
            <a:off x="8641080" y="4069080"/>
            <a:ext cx="2331720" cy="1508760"/>
          </a:xfrm>
          <a:prstGeom prst="roundRect">
            <a:avLst/>
          </a:prstGeom>
          <a:solidFill>
            <a:srgbClr val="152D52">
              <a:alpha val="92000"/>
            </a:srgbClr>
          </a:solidFill>
          <a:ln w="13970">
            <a:solidFill>
              <a:srgbClr val="61D59F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</a:t>
            </a:r>
            <a:endParaRPr lang="en-US" sz="1250" dirty="0"/>
          </a:p>
          <a:p>
            <a:pPr marL="0" indent="0" algn="ctr">
              <a:buNone/>
            </a:pP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causa probable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evidencia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impacto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acción de 7 días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métrica de seguimiento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6"/>
          </a:solidFill>
          <a:ln w="12700">
            <a:solidFill>
              <a:srgbClr val="0714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D7FF"/>
          </a:solidFill>
          <a:ln w="12700">
            <a:solidFill>
              <a:srgbClr val="2BD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8C6BFF"/>
          </a:solidFill>
          <a:ln w="12700">
            <a:solidFill>
              <a:srgbClr val="8C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2700">
            <a:solidFill>
              <a:srgbClr val="152D5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30352" y="6556248"/>
            <a:ext cx="79370" cy="79370"/>
          </a:xfrm>
          <a:prstGeom prst="roundRect">
            <a:avLst/>
          </a:prstGeom>
          <a:solidFill>
            <a:srgbClr val="7BD83D"/>
          </a:solidFill>
          <a:ln w="12700">
            <a:solidFill>
              <a:srgbClr val="7BD8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640903" y="6556248"/>
            <a:ext cx="79370" cy="79370"/>
          </a:xfrm>
          <a:prstGeom prst="roundRect">
            <a:avLst/>
          </a:prstGeom>
          <a:solidFill>
            <a:srgbClr val="2BC4C9"/>
          </a:solidFill>
          <a:ln w="12700">
            <a:solidFill>
              <a:srgbClr val="2BC4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30352" y="6666799"/>
            <a:ext cx="79370" cy="79370"/>
          </a:xfrm>
          <a:prstGeom prst="roundRect">
            <a:avLst/>
          </a:prstGeom>
          <a:solidFill>
            <a:srgbClr val="2BC4C9"/>
          </a:solidFill>
          <a:ln w="12700">
            <a:solidFill>
              <a:srgbClr val="2BC4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640903" y="6666799"/>
            <a:ext cx="79370" cy="79370"/>
          </a:xfrm>
          <a:prstGeom prst="roundRect">
            <a:avLst/>
          </a:prstGeom>
          <a:solidFill>
            <a:srgbClr val="7BD83D"/>
          </a:solidFill>
          <a:ln w="12700">
            <a:solidFill>
              <a:srgbClr val="7BD8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68462" y="6550579"/>
            <a:ext cx="510235" cy="79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6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Dataging</a:t>
            </a:r>
            <a:endParaRPr lang="en-US" sz="546" dirty="0"/>
          </a:p>
        </p:txBody>
      </p:sp>
      <p:sp>
        <p:nvSpPr>
          <p:cNvPr id="11" name="Text 9"/>
          <p:cNvSpPr/>
          <p:nvPr/>
        </p:nvSpPr>
        <p:spPr>
          <a:xfrm>
            <a:off x="768462" y="6652626"/>
            <a:ext cx="737006" cy="68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9" dirty="0">
                <a:solidFill>
                  <a:srgbClr val="2B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Managing through data</a:t>
            </a:r>
            <a:endParaRPr lang="en-US" sz="279" dirty="0"/>
          </a:p>
        </p:txBody>
      </p:sp>
      <p:sp>
        <p:nvSpPr>
          <p:cNvPr id="12" name="Text 10"/>
          <p:cNvSpPr/>
          <p:nvPr/>
        </p:nvSpPr>
        <p:spPr>
          <a:xfrm>
            <a:off x="1572768" y="6565392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FA2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AI Chapter Coruña · FraSoHome · Microsoft Foundry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607040" y="654710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A2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/ 20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915400" y="329184"/>
            <a:ext cx="2423160" cy="310896"/>
          </a:xfrm>
          <a:prstGeom prst="roundRect">
            <a:avLst/>
          </a:prstGeom>
          <a:solidFill>
            <a:srgbClr val="102341">
              <a:alpha val="85000"/>
            </a:srgbClr>
          </a:solidFill>
          <a:ln w="7620">
            <a:solidFill>
              <a:srgbClr val="2BD7FF">
                <a:alpha val="6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FD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Gobernanza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66928" y="50292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Gobernanza desde el primer prototipo</a:t>
            </a:r>
            <a:endParaRPr lang="en-US" sz="2900" dirty="0"/>
          </a:p>
        </p:txBody>
      </p:sp>
      <p:sp>
        <p:nvSpPr>
          <p:cNvPr id="16" name="Text 14"/>
          <p:cNvSpPr/>
          <p:nvPr/>
        </p:nvSpPr>
        <p:spPr>
          <a:xfrm>
            <a:off x="566928" y="1024128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 err="1">
                <a:solidFill>
                  <a:srgbClr val="BFD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muestra</a:t>
            </a:r>
            <a:r>
              <a:rPr lang="en-US" sz="1150" dirty="0">
                <a:solidFill>
                  <a:srgbClr val="BFD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valor sin olvidar permisos, trazabilidad y evaluación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68680" y="1828800"/>
            <a:ext cx="2331720" cy="2057400"/>
          </a:xfrm>
          <a:prstGeom prst="roundRect">
            <a:avLst/>
          </a:prstGeom>
          <a:solidFill>
            <a:srgbClr val="152D52">
              <a:alpha val="92000"/>
            </a:srgbClr>
          </a:solidFill>
          <a:ln w="13970">
            <a:solidFill>
              <a:srgbClr val="2BD7FF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Identidad</a:t>
            </a:r>
            <a:endParaRPr lang="en-US" sz="1320" dirty="0"/>
          </a:p>
          <a:p>
            <a:pPr marL="0" indent="0" algn="ctr">
              <a:buNone/>
            </a:pPr>
            <a:endParaRPr lang="en-US" sz="1320" dirty="0"/>
          </a:p>
          <a:p>
            <a:pPr marL="0" indent="0" algn="ctr">
              <a:buNone/>
            </a:pPr>
            <a:r>
              <a:rPr lang="en-US" sz="132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Preferir Entra ID y RBAC frente a secretos estáticos en producción.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3685032" y="1828800"/>
            <a:ext cx="2331720" cy="2057400"/>
          </a:xfrm>
          <a:prstGeom prst="roundRect">
            <a:avLst/>
          </a:prstGeom>
          <a:solidFill>
            <a:srgbClr val="152D52">
              <a:alpha val="92000"/>
            </a:srgbClr>
          </a:solidFill>
          <a:ln w="13970">
            <a:solidFill>
              <a:srgbClr val="8C6BFF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Trazas</a:t>
            </a:r>
            <a:endParaRPr lang="en-US" sz="1320" dirty="0"/>
          </a:p>
          <a:p>
            <a:pPr marL="0" indent="0" algn="ctr">
              <a:buNone/>
            </a:pPr>
            <a:endParaRPr lang="en-US" sz="1320" dirty="0"/>
          </a:p>
          <a:p>
            <a:pPr marL="0" indent="0" algn="ctr">
              <a:buNone/>
            </a:pPr>
            <a:r>
              <a:rPr lang="en-US" sz="132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Inspeccionar llamadas a modelo, herramientas, latencias y costes.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6501384" y="1828800"/>
            <a:ext cx="2331720" cy="2057400"/>
          </a:xfrm>
          <a:prstGeom prst="roundRect">
            <a:avLst/>
          </a:prstGeom>
          <a:solidFill>
            <a:srgbClr val="152D52">
              <a:alpha val="92000"/>
            </a:srgbClr>
          </a:solidFill>
          <a:ln w="13970">
            <a:solidFill>
              <a:srgbClr val="61D59F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Evaluación</a:t>
            </a:r>
            <a:endParaRPr lang="en-US" sz="1320" dirty="0"/>
          </a:p>
          <a:p>
            <a:pPr marL="0" indent="0" algn="ctr">
              <a:buNone/>
            </a:pPr>
            <a:endParaRPr lang="en-US" sz="1320" dirty="0"/>
          </a:p>
          <a:p>
            <a:pPr marL="0" indent="0" algn="ctr">
              <a:buNone/>
            </a:pPr>
            <a:r>
              <a:rPr lang="en-US" sz="132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Probar calidad, seguridad y comportamiento con datasets de test.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9317736" y="1828800"/>
            <a:ext cx="2331720" cy="2057400"/>
          </a:xfrm>
          <a:prstGeom prst="roundRect">
            <a:avLst/>
          </a:prstGeom>
          <a:solidFill>
            <a:srgbClr val="152D52">
              <a:alpha val="92000"/>
            </a:srgbClr>
          </a:solidFill>
          <a:ln w="13970">
            <a:solidFill>
              <a:srgbClr val="FFC85A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Coste</a:t>
            </a:r>
            <a:endParaRPr lang="en-US" sz="1320" dirty="0"/>
          </a:p>
          <a:p>
            <a:pPr marL="0" indent="0" algn="ctr">
              <a:buNone/>
            </a:pPr>
            <a:endParaRPr lang="en-US" sz="1320" dirty="0"/>
          </a:p>
          <a:p>
            <a:pPr marL="0" indent="0" algn="ctr">
              <a:buNone/>
            </a:pPr>
            <a:r>
              <a:rPr lang="en-US" sz="132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Planificar sesiones de herramientas, tokens, búsqueda y recursos auxiliares.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1463040" y="4800600"/>
            <a:ext cx="9052560" cy="960120"/>
          </a:xfrm>
          <a:prstGeom prst="roundRect">
            <a:avLst/>
          </a:prstGeom>
          <a:solidFill>
            <a:srgbClr val="4B45C9">
              <a:alpha val="92000"/>
            </a:srgbClr>
          </a:solidFill>
          <a:ln w="13970">
            <a:solidFill>
              <a:srgbClr val="2BD7FF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42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de </a:t>
            </a:r>
            <a:r>
              <a:rPr lang="en-US" sz="1420" dirty="0" err="1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oro</a:t>
            </a:r>
            <a:r>
              <a:rPr lang="en-US" sz="142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la </a:t>
            </a:r>
            <a:r>
              <a:rPr lang="en-US" sz="1420" dirty="0" err="1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respuesta</a:t>
            </a:r>
            <a:r>
              <a:rPr lang="en-US" sz="142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final debe decir de dónde viene la información, qué acción propone y qué parte necesita validación humana.</a:t>
            </a:r>
            <a:endParaRPr lang="en-US" sz="14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3A300-995D-70E3-9474-EDBE396F4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C8750A8-7BB9-0ABC-C031-0D5D96C807AC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6"/>
          </a:solidFill>
          <a:ln w="12700">
            <a:solidFill>
              <a:srgbClr val="0714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44BA15B-06A7-742A-2D81-E33B8BE8C797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D7FF"/>
          </a:solidFill>
          <a:ln w="12700">
            <a:solidFill>
              <a:srgbClr val="2BD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641DA51-289A-9163-5F6F-89EBDB301C84}"/>
              </a:ext>
            </a:extLst>
          </p:cNvPr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8C6BFF"/>
          </a:solidFill>
          <a:ln w="12700">
            <a:solidFill>
              <a:srgbClr val="8C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2668CDC-17DA-2FAF-E328-245DBA83B674}"/>
              </a:ext>
            </a:extLst>
          </p:cNvPr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2700">
            <a:solidFill>
              <a:srgbClr val="152D5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FC9AA47-5503-E827-CE65-90721F59FAD0}"/>
              </a:ext>
            </a:extLst>
          </p:cNvPr>
          <p:cNvSpPr/>
          <p:nvPr/>
        </p:nvSpPr>
        <p:spPr>
          <a:xfrm>
            <a:off x="530352" y="6556248"/>
            <a:ext cx="79370" cy="79370"/>
          </a:xfrm>
          <a:prstGeom prst="roundRect">
            <a:avLst/>
          </a:prstGeom>
          <a:solidFill>
            <a:srgbClr val="7BD83D"/>
          </a:solidFill>
          <a:ln w="12700">
            <a:solidFill>
              <a:srgbClr val="7BD8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9D41A44-EF57-3AAA-B316-88E4D75DFFD5}"/>
              </a:ext>
            </a:extLst>
          </p:cNvPr>
          <p:cNvSpPr/>
          <p:nvPr/>
        </p:nvSpPr>
        <p:spPr>
          <a:xfrm>
            <a:off x="640903" y="6556248"/>
            <a:ext cx="79370" cy="79370"/>
          </a:xfrm>
          <a:prstGeom prst="roundRect">
            <a:avLst/>
          </a:prstGeom>
          <a:solidFill>
            <a:srgbClr val="2BC4C9"/>
          </a:solidFill>
          <a:ln w="12700">
            <a:solidFill>
              <a:srgbClr val="2BC4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3099613-5EA9-D611-751F-33FB5E8E4453}"/>
              </a:ext>
            </a:extLst>
          </p:cNvPr>
          <p:cNvSpPr/>
          <p:nvPr/>
        </p:nvSpPr>
        <p:spPr>
          <a:xfrm>
            <a:off x="530352" y="6666799"/>
            <a:ext cx="79370" cy="79370"/>
          </a:xfrm>
          <a:prstGeom prst="roundRect">
            <a:avLst/>
          </a:prstGeom>
          <a:solidFill>
            <a:srgbClr val="2BC4C9"/>
          </a:solidFill>
          <a:ln w="12700">
            <a:solidFill>
              <a:srgbClr val="2BC4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9A71EAA-F387-9117-16DF-0000A1A3AD20}"/>
              </a:ext>
            </a:extLst>
          </p:cNvPr>
          <p:cNvSpPr/>
          <p:nvPr/>
        </p:nvSpPr>
        <p:spPr>
          <a:xfrm>
            <a:off x="640903" y="6666799"/>
            <a:ext cx="79370" cy="79370"/>
          </a:xfrm>
          <a:prstGeom prst="roundRect">
            <a:avLst/>
          </a:prstGeom>
          <a:solidFill>
            <a:srgbClr val="7BD83D"/>
          </a:solidFill>
          <a:ln w="12700">
            <a:solidFill>
              <a:srgbClr val="7BD8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3844FDE-986F-1120-87BA-9FE2B4B9F973}"/>
              </a:ext>
            </a:extLst>
          </p:cNvPr>
          <p:cNvSpPr/>
          <p:nvPr/>
        </p:nvSpPr>
        <p:spPr>
          <a:xfrm>
            <a:off x="768462" y="6550579"/>
            <a:ext cx="510235" cy="79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6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Dataging</a:t>
            </a:r>
            <a:endParaRPr lang="en-US" sz="546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98058D4-8195-8858-7C58-4D6F911A7D6B}"/>
              </a:ext>
            </a:extLst>
          </p:cNvPr>
          <p:cNvSpPr/>
          <p:nvPr/>
        </p:nvSpPr>
        <p:spPr>
          <a:xfrm>
            <a:off x="768462" y="6652626"/>
            <a:ext cx="737006" cy="68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9" dirty="0">
                <a:solidFill>
                  <a:srgbClr val="2B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Managing through data</a:t>
            </a:r>
            <a:endParaRPr lang="en-US" sz="279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86A7C49-9EFE-02D4-038E-658837CAF8A2}"/>
              </a:ext>
            </a:extLst>
          </p:cNvPr>
          <p:cNvSpPr/>
          <p:nvPr/>
        </p:nvSpPr>
        <p:spPr>
          <a:xfrm>
            <a:off x="1572768" y="6565392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FA2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AI Chapter Coruña · FraSoHome · Microsoft Foundry</a:t>
            </a:r>
            <a:endParaRPr lang="en-US" sz="7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F841EC6-2C59-80CA-8168-D07700FB54C9}"/>
              </a:ext>
            </a:extLst>
          </p:cNvPr>
          <p:cNvSpPr/>
          <p:nvPr/>
        </p:nvSpPr>
        <p:spPr>
          <a:xfrm>
            <a:off x="10607040" y="654710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A2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20</a:t>
            </a:r>
            <a:endParaRPr lang="en-US" sz="8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E6EED18-7243-9710-8835-223B4E73516C}"/>
              </a:ext>
            </a:extLst>
          </p:cNvPr>
          <p:cNvSpPr/>
          <p:nvPr/>
        </p:nvSpPr>
        <p:spPr>
          <a:xfrm>
            <a:off x="8915400" y="329184"/>
            <a:ext cx="2423160" cy="310896"/>
          </a:xfrm>
          <a:prstGeom prst="roundRect">
            <a:avLst/>
          </a:prstGeom>
          <a:solidFill>
            <a:srgbClr val="102341">
              <a:alpha val="85000"/>
            </a:srgbClr>
          </a:solidFill>
          <a:ln w="7620">
            <a:solidFill>
              <a:srgbClr val="2BD7FF">
                <a:alpha val="6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FD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AI Chapter Coruña</a:t>
            </a:r>
            <a:endParaRPr lang="en-US" sz="95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A57AF47D-4C8B-7255-9B1E-5BF231E72F3C}"/>
              </a:ext>
            </a:extLst>
          </p:cNvPr>
          <p:cNvSpPr/>
          <p:nvPr/>
        </p:nvSpPr>
        <p:spPr>
          <a:xfrm>
            <a:off x="594360" y="402336"/>
            <a:ext cx="121615" cy="121615"/>
          </a:xfrm>
          <a:prstGeom prst="roundRect">
            <a:avLst/>
          </a:prstGeom>
          <a:solidFill>
            <a:srgbClr val="7BD83D"/>
          </a:solidFill>
          <a:ln w="12700">
            <a:solidFill>
              <a:srgbClr val="7BD8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784152F2-206C-09FE-8411-E765FF3E62D5}"/>
              </a:ext>
            </a:extLst>
          </p:cNvPr>
          <p:cNvSpPr/>
          <p:nvPr/>
        </p:nvSpPr>
        <p:spPr>
          <a:xfrm>
            <a:off x="763753" y="402336"/>
            <a:ext cx="121615" cy="121615"/>
          </a:xfrm>
          <a:prstGeom prst="roundRect">
            <a:avLst/>
          </a:prstGeom>
          <a:solidFill>
            <a:srgbClr val="2BC4C9"/>
          </a:solidFill>
          <a:ln w="12700">
            <a:solidFill>
              <a:srgbClr val="2BC4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86B23DAE-405F-A563-9045-888C71B62E87}"/>
              </a:ext>
            </a:extLst>
          </p:cNvPr>
          <p:cNvSpPr/>
          <p:nvPr/>
        </p:nvSpPr>
        <p:spPr>
          <a:xfrm>
            <a:off x="594360" y="571729"/>
            <a:ext cx="121615" cy="121615"/>
          </a:xfrm>
          <a:prstGeom prst="roundRect">
            <a:avLst/>
          </a:prstGeom>
          <a:solidFill>
            <a:srgbClr val="2BC4C9"/>
          </a:solidFill>
          <a:ln w="12700">
            <a:solidFill>
              <a:srgbClr val="2BC4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C457A60C-7E24-6F35-4BD6-425F0DCA3009}"/>
              </a:ext>
            </a:extLst>
          </p:cNvPr>
          <p:cNvSpPr/>
          <p:nvPr/>
        </p:nvSpPr>
        <p:spPr>
          <a:xfrm>
            <a:off x="763753" y="571729"/>
            <a:ext cx="121615" cy="121615"/>
          </a:xfrm>
          <a:prstGeom prst="roundRect">
            <a:avLst/>
          </a:prstGeom>
          <a:solidFill>
            <a:srgbClr val="7BD83D"/>
          </a:solidFill>
          <a:ln w="12700">
            <a:solidFill>
              <a:srgbClr val="7BD8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DB7E82E-FD09-A1AA-1043-114FA4E33B08}"/>
              </a:ext>
            </a:extLst>
          </p:cNvPr>
          <p:cNvSpPr/>
          <p:nvPr/>
        </p:nvSpPr>
        <p:spPr>
          <a:xfrm>
            <a:off x="959206" y="393649"/>
            <a:ext cx="781812" cy="12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6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Dataging</a:t>
            </a:r>
            <a:endParaRPr lang="en-US" sz="836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BF207E8-FEC9-EF8D-3DD6-BCE011C204C3}"/>
              </a:ext>
            </a:extLst>
          </p:cNvPr>
          <p:cNvSpPr/>
          <p:nvPr/>
        </p:nvSpPr>
        <p:spPr>
          <a:xfrm>
            <a:off x="959206" y="550012"/>
            <a:ext cx="1129284" cy="104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7" dirty="0">
                <a:solidFill>
                  <a:srgbClr val="2B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Managing through data</a:t>
            </a:r>
            <a:endParaRPr lang="en-US" sz="427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30C79D7-A395-5C92-354E-8E499E88E477}"/>
              </a:ext>
            </a:extLst>
          </p:cNvPr>
          <p:cNvSpPr/>
          <p:nvPr/>
        </p:nvSpPr>
        <p:spPr>
          <a:xfrm>
            <a:off x="594360" y="1143000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3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Aterrizando los</a:t>
            </a:r>
            <a:endParaRPr lang="en-US" sz="4300" dirty="0"/>
          </a:p>
          <a:p>
            <a:pPr marL="0" indent="0">
              <a:buNone/>
            </a:pPr>
            <a:r>
              <a:rPr lang="en-US" sz="43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agentes en</a:t>
            </a:r>
            <a:endParaRPr lang="en-US" sz="43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F6BC3CF0-6B0A-A5A9-42D8-42CF19AD9854}"/>
              </a:ext>
            </a:extLst>
          </p:cNvPr>
          <p:cNvSpPr/>
          <p:nvPr/>
        </p:nvSpPr>
        <p:spPr>
          <a:xfrm>
            <a:off x="594360" y="2578608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900" b="1" dirty="0">
                <a:solidFill>
                  <a:srgbClr val="2BD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Microsoft Foundry</a:t>
            </a:r>
            <a:endParaRPr lang="en-US" sz="39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697A6B2E-9E03-DBE5-ED78-EA0CAA319058}"/>
              </a:ext>
            </a:extLst>
          </p:cNvPr>
          <p:cNvSpPr/>
          <p:nvPr/>
        </p:nvSpPr>
        <p:spPr>
          <a:xfrm>
            <a:off x="594360" y="3383280"/>
            <a:ext cx="2331720" cy="0"/>
          </a:xfrm>
          <a:prstGeom prst="line">
            <a:avLst/>
          </a:prstGeom>
          <a:noFill/>
          <a:ln w="38100">
            <a:solidFill>
              <a:srgbClr val="8C6B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69AF632F-EF72-167B-9AE0-5C2AF4D1CD5E}"/>
              </a:ext>
            </a:extLst>
          </p:cNvPr>
          <p:cNvSpPr/>
          <p:nvPr/>
        </p:nvSpPr>
        <p:spPr>
          <a:xfrm>
            <a:off x="594360" y="3703320"/>
            <a:ext cx="5394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la teoría al caso </a:t>
            </a:r>
            <a:r>
              <a:rPr lang="en-US" sz="1700" dirty="0" err="1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práctico</a:t>
            </a:r>
            <a:r>
              <a:rPr lang="en-US" sz="170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endParaRPr lang="en-US" sz="17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8697F9A9-413B-88CE-07BB-BBBEDB15B2EB}"/>
              </a:ext>
            </a:extLst>
          </p:cNvPr>
          <p:cNvSpPr/>
          <p:nvPr/>
        </p:nvSpPr>
        <p:spPr>
          <a:xfrm>
            <a:off x="594360" y="41879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BFD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AI Chapter Coruña</a:t>
            </a:r>
            <a:endParaRPr lang="en-US" sz="14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DB7A34E4-F810-AFCB-FB37-723354100B55}"/>
              </a:ext>
            </a:extLst>
          </p:cNvPr>
          <p:cNvSpPr/>
          <p:nvPr/>
        </p:nvSpPr>
        <p:spPr>
          <a:xfrm>
            <a:off x="7909560" y="4480560"/>
            <a:ext cx="0" cy="0"/>
          </a:xfrm>
          <a:prstGeom prst="line">
            <a:avLst/>
          </a:prstGeom>
          <a:noFill/>
          <a:ln w="15240">
            <a:solidFill>
              <a:srgbClr val="8C6BFF">
                <a:alpha val="80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E05248CD-86F9-0D18-8FE5-E42F630BFB1E}"/>
              </a:ext>
            </a:extLst>
          </p:cNvPr>
          <p:cNvSpPr/>
          <p:nvPr/>
        </p:nvSpPr>
        <p:spPr>
          <a:xfrm>
            <a:off x="7726680" y="2697480"/>
            <a:ext cx="0" cy="0"/>
          </a:xfrm>
          <a:prstGeom prst="line">
            <a:avLst/>
          </a:prstGeom>
          <a:noFill/>
          <a:ln w="15240">
            <a:solidFill>
              <a:srgbClr val="2BD7FF">
                <a:alpha val="80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B711AA49-A107-3185-A3C4-8AD469B853C8}"/>
              </a:ext>
            </a:extLst>
          </p:cNvPr>
          <p:cNvSpPr/>
          <p:nvPr/>
        </p:nvSpPr>
        <p:spPr>
          <a:xfrm>
            <a:off x="8001000" y="2788920"/>
            <a:ext cx="1508760" cy="932688"/>
          </a:xfrm>
          <a:prstGeom prst="hexagon">
            <a:avLst/>
          </a:prstGeom>
          <a:solidFill>
            <a:srgbClr val="4B45C9">
              <a:alpha val="98000"/>
            </a:srgbClr>
          </a:solidFill>
          <a:ln w="15240">
            <a:solidFill>
              <a:srgbClr val="2BD7FF">
                <a:alpha val="9000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Foundry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Service</a:t>
            </a:r>
            <a:endParaRPr lang="en-US" sz="12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D4EA5235-0E4C-07DC-4B3C-0857F40CF33E}"/>
              </a:ext>
            </a:extLst>
          </p:cNvPr>
          <p:cNvSpPr/>
          <p:nvPr/>
        </p:nvSpPr>
        <p:spPr>
          <a:xfrm>
            <a:off x="8229600" y="1234440"/>
            <a:ext cx="1417320" cy="658368"/>
          </a:xfrm>
          <a:prstGeom prst="roundRect">
            <a:avLst/>
          </a:prstGeom>
          <a:solidFill>
            <a:srgbClr val="152D52">
              <a:alpha val="95000"/>
            </a:srgbClr>
          </a:solidFill>
          <a:ln w="13970">
            <a:solidFill>
              <a:srgbClr val="2BD7FF">
                <a:alpha val="8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Conocimiento</a:t>
            </a:r>
            <a:endParaRPr lang="en-US" sz="105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B96BE6F9-9FB4-716F-3300-BB86EF0552B6}"/>
              </a:ext>
            </a:extLst>
          </p:cNvPr>
          <p:cNvSpPr/>
          <p:nvPr/>
        </p:nvSpPr>
        <p:spPr>
          <a:xfrm>
            <a:off x="6446520" y="2267712"/>
            <a:ext cx="1417320" cy="658368"/>
          </a:xfrm>
          <a:prstGeom prst="roundRect">
            <a:avLst/>
          </a:prstGeom>
          <a:solidFill>
            <a:srgbClr val="152D52">
              <a:alpha val="95000"/>
            </a:srgbClr>
          </a:solidFill>
          <a:ln w="13970">
            <a:solidFill>
              <a:srgbClr val="61D59F">
                <a:alpha val="8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</a:t>
            </a:r>
            <a:endParaRPr lang="en-US" sz="105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DA8A23AB-EDD5-EBA6-793A-ECFC21CE4761}"/>
              </a:ext>
            </a:extLst>
          </p:cNvPr>
          <p:cNvSpPr/>
          <p:nvPr/>
        </p:nvSpPr>
        <p:spPr>
          <a:xfrm>
            <a:off x="9738360" y="2267712"/>
            <a:ext cx="1417320" cy="658368"/>
          </a:xfrm>
          <a:prstGeom prst="roundRect">
            <a:avLst/>
          </a:prstGeom>
          <a:solidFill>
            <a:srgbClr val="152D52">
              <a:alpha val="95000"/>
            </a:srgbClr>
          </a:solidFill>
          <a:ln w="13970">
            <a:solidFill>
              <a:srgbClr val="8C6BFF">
                <a:alpha val="8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Inventario</a:t>
            </a:r>
            <a:endParaRPr lang="en-US" sz="105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BB59D5D4-2836-C771-E169-29530AD5F6D3}"/>
              </a:ext>
            </a:extLst>
          </p:cNvPr>
          <p:cNvSpPr/>
          <p:nvPr/>
        </p:nvSpPr>
        <p:spPr>
          <a:xfrm>
            <a:off x="7086600" y="4160520"/>
            <a:ext cx="1417320" cy="658368"/>
          </a:xfrm>
          <a:prstGeom prst="roundRect">
            <a:avLst/>
          </a:prstGeom>
          <a:solidFill>
            <a:srgbClr val="152D52">
              <a:alpha val="95000"/>
            </a:srgbClr>
          </a:solidFill>
          <a:ln w="13970">
            <a:solidFill>
              <a:srgbClr val="2BD7FF">
                <a:alpha val="8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</a:t>
            </a:r>
            <a:endParaRPr lang="en-US" sz="105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29A66669-36AE-6DF8-BEBB-639090AA2D8B}"/>
              </a:ext>
            </a:extLst>
          </p:cNvPr>
          <p:cNvSpPr/>
          <p:nvPr/>
        </p:nvSpPr>
        <p:spPr>
          <a:xfrm>
            <a:off x="9235440" y="4370832"/>
            <a:ext cx="1417320" cy="658368"/>
          </a:xfrm>
          <a:prstGeom prst="roundRect">
            <a:avLst/>
          </a:prstGeom>
          <a:solidFill>
            <a:srgbClr val="152D52">
              <a:alpha val="95000"/>
            </a:srgbClr>
          </a:solidFill>
          <a:ln w="13970">
            <a:solidFill>
              <a:srgbClr val="8C6BFF">
                <a:alpha val="8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Devoluciones</a:t>
            </a:r>
            <a:endParaRPr lang="en-US" sz="105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41E6A78F-5458-988A-6B03-F3BD7923E6F1}"/>
              </a:ext>
            </a:extLst>
          </p:cNvPr>
          <p:cNvSpPr/>
          <p:nvPr/>
        </p:nvSpPr>
        <p:spPr>
          <a:xfrm>
            <a:off x="6903720" y="5504688"/>
            <a:ext cx="4297680" cy="457200"/>
          </a:xfrm>
          <a:prstGeom prst="roundRect">
            <a:avLst/>
          </a:prstGeom>
          <a:solidFill>
            <a:srgbClr val="102341">
              <a:alpha val="92000"/>
            </a:srgbClr>
          </a:solidFill>
          <a:ln w="13970">
            <a:solidFill>
              <a:srgbClr val="8C6BFF">
                <a:alpha val="6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· herramientas · flujos · observabilidad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614169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2837</Words>
  <Application>Microsoft Office PowerPoint</Application>
  <PresentationFormat>Panorámica</PresentationFormat>
  <Paragraphs>546</Paragraphs>
  <Slides>19</Slides>
  <Notes>19</Notes>
  <HiddenSlides>5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Dataging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Aterrizando los agentes en Microsoft Foundry · FraSoHome</dc:title>
  <dc:subject>Sesión Global AI Chapter Coruña: agentes en Microsoft Foundry con FraSoHome</dc:subject>
  <dc:creator>OpenAI</dc:creator>
  <cp:lastModifiedBy>Antonio José Soto Rodriguez</cp:lastModifiedBy>
  <cp:revision>1</cp:revision>
  <dcterms:created xsi:type="dcterms:W3CDTF">2026-04-27T06:22:02Z</dcterms:created>
  <dcterms:modified xsi:type="dcterms:W3CDTF">2026-04-28T17:26:09Z</dcterms:modified>
</cp:coreProperties>
</file>